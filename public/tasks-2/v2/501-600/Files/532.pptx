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A758FC-77C4-48E9-B41A-E861BDF49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4B4E23D-F88D-4B09-8EBE-0E73EDB16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85F997-295A-441E-B91F-2602218F8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E7C5-1B5D-4E61-9D1F-EF9F62B031E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5E83F4-72C9-4014-9D63-A98BCE277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4AB7C3-845D-4C74-A96A-E44B55D92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E78-0337-44B8-8B5F-178E0A9C89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993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692306-6EA5-471E-AC96-33E435D6A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1AC3E3-0F06-4D59-AF91-817EDB154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E9F43E-2889-4A0E-A8AF-2261E48A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E7C5-1B5D-4E61-9D1F-EF9F62B031E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D7DD85-5729-4457-82F8-3EBF196C3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D206D9-063F-4C7A-92CF-4A0FA8638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E78-0337-44B8-8B5F-178E0A9C89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8280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B4C665-824A-4593-9BF5-8932E0546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CAC1D9-B30F-4E77-BF12-FF2A13F30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126687-0E18-4563-94B5-675B831B1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E7C5-1B5D-4E61-9D1F-EF9F62B031E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E3992F-9C74-474C-8BA8-28ABF7217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1A9C55-7D71-490D-B440-B7CCAC1C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E78-0337-44B8-8B5F-178E0A9C89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080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8AAD73-75BC-4374-882A-ACD0545C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90C13E-F834-472E-BAEE-49ACB433A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35D859-AAE1-47C5-9F57-E24C0EC5A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E5DCF8-CEA9-40FF-9856-3C1146A0A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E7C5-1B5D-4E61-9D1F-EF9F62B031E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FDCD52-EF9A-4F35-A5E3-27AC6AA8B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722A6B-E5ED-48CA-8DF9-A47A4305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E78-0337-44B8-8B5F-178E0A9C89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504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E57DFF-CB4D-49F7-83EF-6D72DE2EC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15E898-EE71-44C2-A20E-70EF4D84D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269C1DF-CB00-467A-B83E-1D32B5425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8B6AF75-BA2E-459B-B40E-87169D0C13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8DE75B-52B9-47BC-AD28-EF1A1F3C42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40B266B-BC6D-42CE-A016-E1EAC203B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E7C5-1B5D-4E61-9D1F-EF9F62B031E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9BC09EA-F95E-4693-95DD-D4FEA563C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0307B29-AFF7-4895-A5BE-BF4300972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E78-0337-44B8-8B5F-178E0A9C89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10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444D7B-EE57-4F3E-8305-F66F8E6D1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CA2EFF9-F9B3-4AB5-A4DC-9AB75594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E7C5-1B5D-4E61-9D1F-EF9F62B031E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59A4B2F-85A4-4D9E-9D00-F67F3E4AA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9703329-9349-4977-9C65-6648D2EAD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E78-0337-44B8-8B5F-178E0A9C89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2982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A691DF2-FB01-484B-8C00-41D4F8C56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E7C5-1B5D-4E61-9D1F-EF9F62B031E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96ABCB-C68A-4AF5-A8F7-1C5430806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8C5482-FEEF-4A1A-9938-C62AF12FD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E78-0337-44B8-8B5F-178E0A9C89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996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57D74-D1B8-49BB-ABEF-7A22846DB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D472B0-9753-4B22-AEA6-41B8055E3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E235F70-233F-4BAE-9711-018254816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09E670-FC8F-4233-949D-573A3716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E7C5-1B5D-4E61-9D1F-EF9F62B031E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1C6D6F-5D08-4EEF-A969-5AA9117C7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FDA478-22DC-475B-9671-C5C281B9A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E78-0337-44B8-8B5F-178E0A9C89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440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5107B2-3A7F-4C5B-947A-9372852BF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9A663E6-7474-411E-8D63-5BA64AEA71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451558-AE52-4E09-9BBA-B99362FB6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36CABF-4AEF-4F48-AEA4-EE3C5DEC1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E7C5-1B5D-4E61-9D1F-EF9F62B031E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B19D0FD-AB2C-4337-A194-0AF407ADC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F26418-4E01-433E-8483-0411424F7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E78-0337-44B8-8B5F-178E0A9C89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417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56D202-4335-4802-A95F-EF5785C14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B64581-A5E6-427D-9213-B53EA1D96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49CA51-FC97-4C7B-8396-ECC5E897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E7C5-1B5D-4E61-9D1F-EF9F62B031E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DB862D-323D-43ED-BE48-C2F0F653A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AB8CBB-CB38-4CE4-B8A9-EBDB5FF5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E78-0337-44B8-8B5F-178E0A9C89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1520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340856B-DF69-40E3-9A43-1184A00EEE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E2A479-485E-4DAC-8D87-1E97F49A5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E57823-2753-4C63-BA4A-9FF263D91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E7C5-1B5D-4E61-9D1F-EF9F62B031E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BBA505-98B0-4662-9E36-9C30AB285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A40016-BA58-45B0-A3CD-15339B8E7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E78-0337-44B8-8B5F-178E0A9C89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6433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8428E2-7803-4123-813B-C4082A95C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4194C5-1994-4466-9753-A8D9C8E77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9BFD89-DCE2-40EB-92A2-C170C267E9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DE7C5-1B5D-4E61-9D1F-EF9F62B031E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1DE148-D0CD-4043-B4D7-6E2CBC9589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A27DA3-931A-464D-8BEE-97A779D94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05E78-0337-44B8-8B5F-178E0A9C89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514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1A4B9-28CC-4141-9D92-77FF1DB354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5" y="304801"/>
            <a:ext cx="10717161" cy="1868128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Гл. 5 Законодательная власть в России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0860EE8-7250-46ED-8EA3-2A957278D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1884" y="2172929"/>
            <a:ext cx="10333702" cy="4159045"/>
          </a:xfrm>
        </p:spPr>
        <p:txBody>
          <a:bodyPr/>
          <a:lstStyle/>
          <a:p>
            <a:r>
              <a:rPr lang="ru-RU" b="1" dirty="0"/>
              <a:t>Статья 94</a:t>
            </a:r>
            <a:endParaRPr lang="ru-RU" dirty="0"/>
          </a:p>
          <a:p>
            <a:pPr algn="l"/>
            <a:r>
              <a:rPr lang="ru-RU" sz="2800" b="1" dirty="0">
                <a:solidFill>
                  <a:srgbClr val="FF0000"/>
                </a:solidFill>
              </a:rPr>
              <a:t>Федеральное Собрание </a:t>
            </a:r>
            <a:r>
              <a:rPr lang="ru-RU" sz="2800" dirty="0"/>
              <a:t>- парламент Российской Федерации - является представительным и законодательным органом Российской Федерации.</a:t>
            </a:r>
            <a:endParaRPr lang="ru-RU" b="1" dirty="0"/>
          </a:p>
          <a:p>
            <a:r>
              <a:rPr lang="ru-RU" b="1" dirty="0"/>
              <a:t>Статья 95</a:t>
            </a:r>
          </a:p>
          <a:p>
            <a:r>
              <a:rPr lang="ru-RU" dirty="0"/>
              <a:t> </a:t>
            </a:r>
          </a:p>
          <a:p>
            <a:pPr algn="l"/>
            <a:r>
              <a:rPr lang="ru-RU" sz="2800" dirty="0"/>
              <a:t>1. Федеральное Собрание состоит из двух палат - </a:t>
            </a:r>
            <a:r>
              <a:rPr lang="ru-RU" sz="2800" b="1" dirty="0">
                <a:solidFill>
                  <a:srgbClr val="FF0000"/>
                </a:solidFill>
              </a:rPr>
              <a:t>Совета Федерации и Государственной Думы.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0491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FA3F5E-A5E8-4DB2-85A0-CBA10B17E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3055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solidFill>
                  <a:srgbClr val="FF0000"/>
                </a:solidFill>
              </a:rPr>
              <a:t>Состав палат Федерального собрания  ( ст.95-96)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E01756-61DD-44C2-9597-CDE59E3E6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880" y="995680"/>
            <a:ext cx="5560695" cy="528321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Совет Федерации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A3B44CB-B01D-4ED4-A969-15F516210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880" y="1626234"/>
            <a:ext cx="5560695" cy="5038725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pPr marL="0" indent="0">
              <a:buNone/>
            </a:pPr>
            <a:r>
              <a:rPr lang="ru-RU" dirty="0"/>
              <a:t>1) По 2 представителя от каждого субъекта Федерации:</a:t>
            </a:r>
          </a:p>
          <a:p>
            <a:pPr marL="0" indent="0">
              <a:buNone/>
            </a:pPr>
            <a:r>
              <a:rPr lang="ru-RU" dirty="0"/>
              <a:t>1-н от законодательного органа субъекта;</a:t>
            </a:r>
          </a:p>
          <a:p>
            <a:pPr marL="0" indent="0">
              <a:buNone/>
            </a:pPr>
            <a:r>
              <a:rPr lang="ru-RU" dirty="0"/>
              <a:t>1-н от исполнительного органа субъекта</a:t>
            </a:r>
          </a:p>
          <a:p>
            <a:pPr marL="0" indent="0">
              <a:buNone/>
            </a:pPr>
            <a:r>
              <a:rPr lang="ru-RU" dirty="0"/>
              <a:t>2) Представители России, назначаемые Президентом РФ</a:t>
            </a:r>
          </a:p>
          <a:p>
            <a:pPr marL="0" indent="0">
              <a:buNone/>
            </a:pPr>
            <a:r>
              <a:rPr lang="ru-RU" dirty="0"/>
              <a:t> (не более 5% от числа членов Совета Федерации)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943F8D6-5C94-4ABF-BC1F-03270990C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995681"/>
            <a:ext cx="5183188" cy="528320"/>
          </a:xfrm>
          <a:ln>
            <a:solidFill>
              <a:schemeClr val="bg2">
                <a:lumMod val="1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Государственная Дума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42BE71A-5D17-4B05-A6DE-D3A8A4C3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26235"/>
            <a:ext cx="5183188" cy="5038724"/>
          </a:xfrm>
          <a:ln>
            <a:solidFill>
              <a:schemeClr val="bg2">
                <a:lumMod val="10000"/>
              </a:schemeClr>
            </a:solidFill>
          </a:ln>
        </p:spPr>
        <p:txBody>
          <a:bodyPr/>
          <a:lstStyle/>
          <a:p>
            <a:pPr marL="0" indent="0">
              <a:buNone/>
            </a:pPr>
            <a:r>
              <a:rPr lang="ru-RU" dirty="0"/>
              <a:t>Состоит из </a:t>
            </a:r>
            <a:r>
              <a:rPr lang="ru-RU" b="1" dirty="0">
                <a:solidFill>
                  <a:srgbClr val="FF0000"/>
                </a:solidFill>
              </a:rPr>
              <a:t>450 депутатов</a:t>
            </a:r>
            <a:r>
              <a:rPr lang="ru-RU" dirty="0"/>
              <a:t>, избираемых на пропорциональной основе </a:t>
            </a:r>
            <a:r>
              <a:rPr lang="ru-RU" dirty="0">
                <a:solidFill>
                  <a:srgbClr val="FF0000"/>
                </a:solidFill>
              </a:rPr>
              <a:t>на 5 лет. 225 </a:t>
            </a:r>
            <a:r>
              <a:rPr lang="ru-RU" dirty="0"/>
              <a:t>депутатов -по одномандатным избирательным округам и </a:t>
            </a:r>
            <a:r>
              <a:rPr lang="ru-RU" dirty="0">
                <a:solidFill>
                  <a:srgbClr val="FF0000"/>
                </a:solidFill>
              </a:rPr>
              <a:t>225-</a:t>
            </a:r>
            <a:r>
              <a:rPr lang="ru-RU" dirty="0"/>
              <a:t> по федеральному избирательному округу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DD6F02-F56A-4EB4-9BD4-7AE2DF171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880" y="4836476"/>
            <a:ext cx="3200400" cy="173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194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839683-6038-464E-B767-3A16BB75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041"/>
            <a:ext cx="10515600" cy="67055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solidFill>
                  <a:srgbClr val="FF0000"/>
                </a:solidFill>
              </a:rPr>
              <a:t>Требования к  кандидатам Совета Федерации и Государственной Думы ( ст. 96-97)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5B1ECB-2655-4CAE-A2BB-97F624856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6880" y="1310640"/>
            <a:ext cx="5582920" cy="4866323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b="1" dirty="0">
                <a:solidFill>
                  <a:srgbClr val="FF0000"/>
                </a:solidFill>
              </a:rPr>
              <a:t>Совет Федерации</a:t>
            </a:r>
          </a:p>
          <a:p>
            <a:pPr marL="514350" indent="-514350">
              <a:buAutoNum type="arabicPeriod"/>
            </a:pPr>
            <a:r>
              <a:rPr lang="ru-RU" sz="2400" dirty="0"/>
              <a:t>гражданин РФ;</a:t>
            </a:r>
          </a:p>
          <a:p>
            <a:pPr marL="514350" indent="-514350">
              <a:buAutoNum type="arabicPeriod"/>
            </a:pPr>
            <a:r>
              <a:rPr lang="ru-RU" sz="2400" dirty="0"/>
              <a:t>не менее 30 лет;</a:t>
            </a:r>
          </a:p>
          <a:p>
            <a:pPr marL="514350" indent="-514350">
              <a:buAutoNum type="arabicPeriod"/>
            </a:pPr>
            <a:r>
              <a:rPr lang="ru-RU" sz="2400" dirty="0"/>
              <a:t>в течение 5 лет постоянно проживающий на территории субъекта Федерации</a:t>
            </a:r>
          </a:p>
          <a:p>
            <a:pPr marL="514350" indent="-514350">
              <a:buAutoNum type="arabicPeriod"/>
            </a:pPr>
            <a:r>
              <a:rPr lang="ru-RU" sz="2400" dirty="0"/>
              <a:t>безупречной репутации;</a:t>
            </a:r>
          </a:p>
          <a:p>
            <a:pPr marL="514350" indent="-514350">
              <a:buAutoNum type="arabicPeriod"/>
            </a:pPr>
            <a:r>
              <a:rPr lang="ru-RU" sz="2400" dirty="0"/>
              <a:t>Если избирается от субъекта, то должен быть членом законодательного или исполнительного органа этого субъекта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56E851-E550-4694-873B-D5B7C22CE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10640"/>
            <a:ext cx="5181600" cy="4866323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b="1" dirty="0">
                <a:solidFill>
                  <a:srgbClr val="FF0000"/>
                </a:solidFill>
              </a:rPr>
              <a:t>Государственная Дума</a:t>
            </a:r>
          </a:p>
          <a:p>
            <a:pPr marL="514350" indent="-514350">
              <a:buAutoNum type="arabicPeriod"/>
            </a:pPr>
            <a:r>
              <a:rPr lang="ru-RU" dirty="0"/>
              <a:t>гражданин РФ</a:t>
            </a:r>
          </a:p>
          <a:p>
            <a:pPr marL="514350" indent="-514350">
              <a:buAutoNum type="arabicPeriod"/>
            </a:pPr>
            <a:r>
              <a:rPr lang="ru-RU" dirty="0"/>
              <a:t>достигший 21 года</a:t>
            </a:r>
          </a:p>
          <a:p>
            <a:pPr marL="514350" indent="-514350">
              <a:buAutoNum type="arabicPeriod"/>
            </a:pPr>
            <a:r>
              <a:rPr lang="ru-RU" dirty="0"/>
              <a:t>Имеющие право участвовать в выборах ( дееспособные и не находящиеся в местах лишения свободы)</a:t>
            </a:r>
          </a:p>
          <a:p>
            <a:pPr marL="514350" indent="-514350">
              <a:buAutoNum type="arabicPeriod"/>
            </a:pPr>
            <a:r>
              <a:rPr lang="ru-RU" dirty="0"/>
              <a:t>Не являющийся членом Совета Федерации, иных органов государственной  власти и местного самоуправления</a:t>
            </a:r>
          </a:p>
          <a:p>
            <a:pPr marL="514350" indent="-514350">
              <a:buAutoNum type="arabicPeriod"/>
            </a:pPr>
            <a:r>
              <a:rPr lang="ru-RU" dirty="0">
                <a:solidFill>
                  <a:srgbClr val="FF0000"/>
                </a:solidFill>
              </a:rPr>
              <a:t>Не могут находиться на государственной службе, заниматься другой оплачиваемой деятельностью, кроме преподавательской, научной или творческой.</a:t>
            </a:r>
          </a:p>
        </p:txBody>
      </p:sp>
    </p:spTree>
    <p:extLst>
      <p:ext uri="{BB962C8B-B14F-4D97-AF65-F5344CB8AC3E}">
        <p14:creationId xmlns:p14="http://schemas.microsoft.com/office/powerpoint/2010/main" val="270480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1387F-ADF6-433C-9971-EC331C64C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841"/>
            <a:ext cx="10515600" cy="80264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solidFill>
                  <a:srgbClr val="FF0000"/>
                </a:solidFill>
              </a:rPr>
              <a:t>Порядок работы палат парламента (ст.100-101)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CA620C-32EF-4345-B17F-7EA55818E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7520" y="1148080"/>
            <a:ext cx="6878320" cy="55676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1. Совет Федерации и Государственная Дума заседают раздельно. Палаты могут собираться совместно для заслушивания посланий Президента РФ, посланий Конституционного Суда РФ, выступлений руководителей иностранных государств.</a:t>
            </a:r>
          </a:p>
          <a:p>
            <a:pPr marL="0" indent="0">
              <a:buNone/>
            </a:pPr>
            <a:r>
              <a:rPr lang="ru-RU" dirty="0"/>
              <a:t>2. Палаты избирают своих председателей и их заместителей, имеют свой регламент</a:t>
            </a:r>
          </a:p>
          <a:p>
            <a:pPr marL="0" indent="0">
              <a:buNone/>
            </a:pPr>
            <a:r>
              <a:rPr lang="ru-RU" dirty="0"/>
              <a:t>3. Для осуществления контроля за исполнением федерального бюджета Совет Федерации и Государственная Дума образуют Счетную палату. </a:t>
            </a:r>
          </a:p>
          <a:p>
            <a:pPr marL="0" indent="0">
              <a:buNone/>
            </a:pPr>
            <a:r>
              <a:rPr lang="ru-RU" dirty="0"/>
              <a:t>4. Государственная Дума образует комитеты</a:t>
            </a:r>
          </a:p>
          <a:p>
            <a:pPr marL="0" indent="0">
              <a:buNone/>
            </a:pPr>
            <a:r>
              <a:rPr lang="ru-RU" dirty="0"/>
              <a:t> (12-35 чел)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B13A1F3-AE43-402F-BF07-DC21EB832CE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9441" y="1148080"/>
            <a:ext cx="3759200" cy="2225040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CB59FF5-9AE0-4729-99A0-9473A15141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9440" y="3799841"/>
            <a:ext cx="3759201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18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E2FACC-D565-45EE-8723-367DA44A9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760" y="193040"/>
            <a:ext cx="11247120" cy="904239"/>
          </a:xfrm>
        </p:spPr>
        <p:txBody>
          <a:bodyPr>
            <a:normAutofit fontScale="90000"/>
          </a:bodyPr>
          <a:lstStyle/>
          <a:p>
            <a:br>
              <a:rPr lang="ru-RU" dirty="0"/>
            </a:br>
            <a:br>
              <a:rPr lang="ru-RU" dirty="0"/>
            </a:br>
            <a:r>
              <a:rPr lang="ru-RU" sz="4900" b="1" dirty="0">
                <a:solidFill>
                  <a:srgbClr val="FF0000"/>
                </a:solidFill>
              </a:rPr>
              <a:t>Предметы ведения Совета Федерации (ст.102)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8BB3753-CA4B-4890-816F-8523DE9CF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1178560"/>
            <a:ext cx="11582400" cy="5394960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/>
              <a:t>а) утверждение изменения границ между субъектами Российской Федерации;</a:t>
            </a:r>
          </a:p>
          <a:p>
            <a:pPr algn="l"/>
            <a:r>
              <a:rPr lang="ru-RU" dirty="0"/>
              <a:t>б) утверждение указа Президента РФ о введении военного или чрезвычайного  положения;</a:t>
            </a:r>
          </a:p>
          <a:p>
            <a:pPr algn="l"/>
            <a:r>
              <a:rPr lang="ru-RU" dirty="0"/>
              <a:t>в) решение вопроса о возможности использования Вооруженных Сил РФ за пределами территории России;</a:t>
            </a:r>
          </a:p>
          <a:p>
            <a:pPr algn="l"/>
            <a:r>
              <a:rPr lang="ru-RU" dirty="0"/>
              <a:t>д) назначение выборов Президента Российской Федерации;</a:t>
            </a:r>
          </a:p>
          <a:p>
            <a:pPr algn="l"/>
            <a:r>
              <a:rPr lang="ru-RU" dirty="0"/>
              <a:t>е) отрешение Президента Российской Федерации от должности;</a:t>
            </a:r>
          </a:p>
          <a:p>
            <a:pPr algn="l"/>
            <a:r>
              <a:rPr lang="ru-RU" dirty="0"/>
              <a:t>ж) назначение на должность судей Конституционного Суда РФ, Верховного Суда РФ; </a:t>
            </a:r>
          </a:p>
          <a:p>
            <a:pPr algn="l"/>
            <a:r>
              <a:rPr lang="ru-RU" dirty="0"/>
              <a:t>з) назначение на должность и освобождение от должности Генерального прокурора РФ и его заместителей;</a:t>
            </a:r>
          </a:p>
          <a:p>
            <a:pPr algn="l"/>
            <a:r>
              <a:rPr lang="ru-RU" dirty="0"/>
              <a:t>и) назначение на должность и освобождение от должности заместителя Председателя Счетной палаты и половины состава ее аудиторов.</a:t>
            </a:r>
          </a:p>
          <a:p>
            <a:pPr algn="l"/>
            <a:r>
              <a:rPr lang="ru-RU" dirty="0"/>
              <a:t>Совет Федерации принимает постановления по вопросам, отнесенным к его ведению Конституцией Российской Федерации.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116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D03CB2-4F13-4812-ABB1-260F1CB28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440" y="304800"/>
            <a:ext cx="11318240" cy="619760"/>
          </a:xfrm>
        </p:spPr>
        <p:txBody>
          <a:bodyPr>
            <a:noAutofit/>
          </a:bodyPr>
          <a:lstStyle/>
          <a:p>
            <a:r>
              <a:rPr lang="ru-RU" sz="4400" b="1" dirty="0">
                <a:solidFill>
                  <a:srgbClr val="FF0000"/>
                </a:solidFill>
              </a:rPr>
              <a:t>Предметы ведения Государственной Думы РФ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90ED6E9-A2F7-4FCA-882D-103EB79FA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000" y="1056640"/>
            <a:ext cx="11409680" cy="580136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dirty="0"/>
              <a:t>а) дача согласия Президенту РФ на назначение Председателя Правительства РФ;</a:t>
            </a:r>
          </a:p>
          <a:p>
            <a:pPr algn="l"/>
            <a:r>
              <a:rPr lang="ru-RU" dirty="0"/>
              <a:t>б) решение вопроса о доверии Правительству Российской Федерации;</a:t>
            </a:r>
          </a:p>
          <a:p>
            <a:pPr algn="l"/>
            <a:r>
              <a:rPr lang="ru-RU" dirty="0"/>
              <a:t>в) заслушивание ежегодных отчетов Правительства РФ о результатах его деятельности, в том числе по вопросам, поставленным Государственной Думой;</a:t>
            </a:r>
          </a:p>
          <a:p>
            <a:pPr algn="l"/>
            <a:r>
              <a:rPr lang="ru-RU" dirty="0"/>
              <a:t>г) назначение на должность и освобождение от должности Председателя Центрального банка РФ;</a:t>
            </a:r>
          </a:p>
          <a:p>
            <a:pPr algn="l"/>
            <a:r>
              <a:rPr lang="ru-RU" dirty="0"/>
              <a:t>д) назначение на должность и освобождение от должности Председателя Счетной палаты и половины состава ее аудиторов;</a:t>
            </a:r>
          </a:p>
          <a:p>
            <a:pPr algn="l"/>
            <a:r>
              <a:rPr lang="ru-RU" dirty="0"/>
              <a:t>е) назначение на должность и освобождение от должности Уполномоченного по правам человека;</a:t>
            </a:r>
          </a:p>
          <a:p>
            <a:pPr algn="l"/>
            <a:r>
              <a:rPr lang="ru-RU" dirty="0"/>
              <a:t>ж) объявление амнистии;</a:t>
            </a:r>
          </a:p>
          <a:p>
            <a:pPr algn="l"/>
            <a:r>
              <a:rPr lang="ru-RU" dirty="0"/>
              <a:t>з) выдвижение обвинения против Президента РФ для отрешения его от должности.</a:t>
            </a:r>
          </a:p>
          <a:p>
            <a:pPr algn="l"/>
            <a:r>
              <a:rPr lang="ru-RU" dirty="0"/>
              <a:t>2. Государственная Дума принимает постановления по вопросам, отнесенным к ее ведению Конституцией Российской Федерации.</a:t>
            </a:r>
          </a:p>
          <a:p>
            <a:pPr algn="l"/>
            <a:r>
              <a:rPr lang="ru-RU" dirty="0"/>
              <a:t>3. Постановления Государственной Думы принимаются большинством голосов от общего числа депутатов Государственной Думы, если иной порядок принятия решений не предусмотрен Конституцией Российской Федерации.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231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377D71-ACBE-4E76-851A-3C5962D3B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0" y="142241"/>
            <a:ext cx="11328400" cy="62992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Стадии законодательного процесса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22FA486-67D3-4F96-9C01-2087C38FB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440" y="965200"/>
            <a:ext cx="11165840" cy="5892800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/>
              <a:t>1.</a:t>
            </a:r>
            <a:r>
              <a:rPr lang="ru-RU" b="1" dirty="0">
                <a:solidFill>
                  <a:srgbClr val="FF0000"/>
                </a:solidFill>
              </a:rPr>
              <a:t>Законодательная инициатива </a:t>
            </a:r>
            <a:r>
              <a:rPr lang="ru-RU" dirty="0"/>
              <a:t>(принадлежит Президенту РФ, Совету Федерации и его членам, депутатам Государственной Думы, Правительству РФ, законодательным органам субъектов РФ; Конституционному Суду РФ и Верховному Суду РФ по вопросам их ведения )</a:t>
            </a:r>
          </a:p>
          <a:p>
            <a:pPr algn="l"/>
            <a:r>
              <a:rPr lang="ru-RU" dirty="0"/>
              <a:t>2. </a:t>
            </a:r>
            <a:r>
              <a:rPr lang="ru-RU" b="1" dirty="0">
                <a:solidFill>
                  <a:srgbClr val="FF0000"/>
                </a:solidFill>
              </a:rPr>
              <a:t>Внесение законопроекта в Государственную Думу и его  обсуждение</a:t>
            </a:r>
            <a:r>
              <a:rPr lang="ru-RU" dirty="0"/>
              <a:t>. Три чтения:</a:t>
            </a:r>
          </a:p>
          <a:p>
            <a:pPr marL="630238" indent="90488" algn="l"/>
            <a:r>
              <a:rPr lang="ru-RU" dirty="0"/>
              <a:t>Первое- концептуальное обсуждение;</a:t>
            </a:r>
          </a:p>
          <a:p>
            <a:pPr marL="630238" indent="90488" algn="l"/>
            <a:r>
              <a:rPr lang="ru-RU" dirty="0"/>
              <a:t>Второе-детальное обсуждение;</a:t>
            </a:r>
          </a:p>
          <a:p>
            <a:pPr marL="630238" indent="90488" algn="l"/>
            <a:r>
              <a:rPr lang="ru-RU" dirty="0"/>
              <a:t>Третье-голосование «за» или «против»</a:t>
            </a:r>
          </a:p>
          <a:p>
            <a:pPr marL="263525" indent="-263525" algn="l"/>
            <a:r>
              <a:rPr lang="ru-RU" dirty="0"/>
              <a:t>3. </a:t>
            </a:r>
            <a:r>
              <a:rPr lang="ru-RU" b="1" dirty="0">
                <a:solidFill>
                  <a:srgbClr val="FF0000"/>
                </a:solidFill>
              </a:rPr>
              <a:t>Передача принятого закона на рассмотрение Совета Федерации</a:t>
            </a:r>
            <a:r>
              <a:rPr lang="ru-RU" dirty="0"/>
              <a:t>. Совет Федерации одобряет или отклоняет закон. Дается на рассмотрение 14 дней. Право «вето» с обязательным созданием согласительных комиссии и повторное рассмотрение и принятие  Государственной Думой в составе не мене 2/3.</a:t>
            </a:r>
          </a:p>
          <a:p>
            <a:pPr marL="263525" indent="-263525" algn="l"/>
            <a:r>
              <a:rPr lang="ru-RU" dirty="0"/>
              <a:t>4.</a:t>
            </a:r>
            <a:r>
              <a:rPr lang="ru-RU" b="1" dirty="0">
                <a:solidFill>
                  <a:srgbClr val="FF0000"/>
                </a:solidFill>
              </a:rPr>
              <a:t>Передача закона Президенту РФ для подписания и обнародования</a:t>
            </a:r>
            <a:r>
              <a:rPr lang="ru-RU" dirty="0"/>
              <a:t>.  Дается на рассмотрение 14 дней. Право « вето». При повторном голосовании в палатах 2/3 голосов Президент обязан подписать закон в течение 7 дней. После подписания закона в течение 7 дней он должен быть опубликован.</a:t>
            </a:r>
          </a:p>
          <a:p>
            <a:pPr marL="263525" indent="-263525"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9785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D49924-C34E-41FC-B0B3-CCEB0CBE4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040" y="193040"/>
            <a:ext cx="11887200" cy="1076960"/>
          </a:xfrm>
        </p:spPr>
        <p:txBody>
          <a:bodyPr>
            <a:noAutofit/>
          </a:bodyPr>
          <a:lstStyle/>
          <a:p>
            <a:r>
              <a:rPr lang="ru-RU" sz="4400" b="1" dirty="0">
                <a:solidFill>
                  <a:srgbClr val="FF0000"/>
                </a:solidFill>
              </a:rPr>
              <a:t>Основания  и порядок роспуска Государственной Думы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CE1931-EA65-4913-88A5-AFF2FE79C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960" y="1584960"/>
            <a:ext cx="11399520" cy="4988560"/>
          </a:xfrm>
        </p:spPr>
        <p:txBody>
          <a:bodyPr>
            <a:normAutofit fontScale="92500" lnSpcReduction="10000"/>
          </a:bodyPr>
          <a:lstStyle/>
          <a:p>
            <a:r>
              <a:rPr lang="ru-RU" sz="3000" dirty="0">
                <a:solidFill>
                  <a:srgbClr val="FF0000"/>
                </a:solidFill>
              </a:rPr>
              <a:t>Государственная Дума может быть распущена Президентом РФ в случаях</a:t>
            </a:r>
            <a:r>
              <a:rPr lang="ru-RU" sz="3000" dirty="0"/>
              <a:t>:</a:t>
            </a:r>
          </a:p>
          <a:p>
            <a:pPr marL="457200" indent="-457200" algn="l">
              <a:buAutoNum type="arabicPeriod"/>
            </a:pPr>
            <a:r>
              <a:rPr lang="ru-RU" sz="3000" dirty="0"/>
              <a:t>После трехкратного отклонения представленных кандидатур Председателя Правительства РФ Государственной Думой Президент РФ назначает Председателя Правительства РФ, распускает Государственную Думу и назначает новые выборы.</a:t>
            </a: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ru-RU" sz="3000" dirty="0"/>
              <a:t>В случае если Государственная Дума в течение трех месяцев повторно выразит недоверие Правительству РФ, Президент РФ объявляет об отставке Правительства либо распускает Государственную Думу.</a:t>
            </a: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ru-RU" sz="3000" dirty="0"/>
              <a:t>Истечение срока полномочий.</a:t>
            </a: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endParaRPr lang="ru-RU" dirty="0"/>
          </a:p>
          <a:p>
            <a:pPr marL="457200" indent="-457200" algn="l">
              <a:buAutoNum type="arabicPeriod"/>
            </a:pPr>
            <a:endParaRPr lang="ru-RU" dirty="0"/>
          </a:p>
          <a:p>
            <a:pPr algn="l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72237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831</Words>
  <Application>Microsoft Office PowerPoint</Application>
  <PresentationFormat>Широкоэкранный</PresentationFormat>
  <Paragraphs>71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Гл. 5 Законодательная власть в России</vt:lpstr>
      <vt:lpstr>Состав палат Федерального собрания  ( ст.95-96)</vt:lpstr>
      <vt:lpstr>Требования к  кандидатам Совета Федерации и Государственной Думы ( ст. 96-97)</vt:lpstr>
      <vt:lpstr>Порядок работы палат парламента (ст.100-101)</vt:lpstr>
      <vt:lpstr>  Предметы ведения Совета Федерации (ст.102)</vt:lpstr>
      <vt:lpstr>Предметы ведения Государственной Думы РФ</vt:lpstr>
      <vt:lpstr>Стадии законодательного процесса</vt:lpstr>
      <vt:lpstr>Основания  и порядок роспуска Государственной Думы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Гл. 5 Законодательная власть в России</dc:title>
  <dc:creator>AS</dc:creator>
  <cp:lastModifiedBy>Андрей Лебедев</cp:lastModifiedBy>
  <cp:revision>19</cp:revision>
  <dcterms:created xsi:type="dcterms:W3CDTF">2017-10-24T11:46:40Z</dcterms:created>
  <dcterms:modified xsi:type="dcterms:W3CDTF">2026-01-22T11:54:07Z</dcterms:modified>
</cp:coreProperties>
</file>
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 autoAdjust="0"/>
    <p:restoredTop sz="94610" autoAdjust="0"/>
  </p:normalViewPr>
  <p:slideViewPr>
    <p:cSldViewPr snapToGrid="0" snapToObjects="1">
      <p:cViewPr varScale="1">
        <p:scale>
          <a:sx n="69" d="100"/>
          <a:sy n="69" d="100"/>
        </p:scale>
        <p:origin x="677" y="-6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2280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0"/>
            <a:ext cx="658368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05514"/>
            <a:ext cx="28377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ВКУСВИЛЛ Бизнес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93790" y="2650569"/>
            <a:ext cx="645914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ПАРТНЁРСКАЯ ПРОГРАММА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408289"/>
            <a:ext cx="645914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Ваш путь к успеху вместе со ВкусВиллом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116949"/>
            <a:ext cx="645914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Уникальная модель сотрудничества, не франшиза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3325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3058" y="2996922"/>
            <a:ext cx="13324284" cy="1166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ВКУСВИЛЛ: ФЕДЕРАЛЬНЫЙ БРЕНД, КОТОРОМУ ДОВЕРЯЮТ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53058" y="4629388"/>
            <a:ext cx="2332553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ВКУСВИЛЛ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53058" y="5107424"/>
            <a:ext cx="6434495" cy="596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Это не просто продукты под собственной торговой маркой, но и более 2000 магазинов и 200 дарксторов в 157 городах России.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53058" y="5872282"/>
            <a:ext cx="6434495" cy="895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Мы ценим честность, открытость и стремление к инновациям. Наши продукты – это не просто еда, это забота о здоровье и благополучии покупателей.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550468" y="4629388"/>
            <a:ext cx="2335768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ВКУСВИЛЛ Бизнес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550468" y="5107424"/>
            <a:ext cx="6434495" cy="895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В2В-отдел ВкусВилла, который помогает клиентам (магазинам различных форматов) радовать покупателей вкусными и полезными продуктами в России и странах СНГ.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53058" y="7215426"/>
            <a:ext cx="5884188" cy="349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C2B3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ДОСТАВЛЯЕМ ПО ВСЕЙ РОССИИ И СНГ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7565" y="406718"/>
            <a:ext cx="4851797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ПАРТНЁРСКАЯ ПРОГРАММА ВКУСВИЛЛ БИЗНЕС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17565" y="696873"/>
            <a:ext cx="7529155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Почему партнёры выбирают ВкусВилл Бизнес?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17565" y="1288375"/>
            <a:ext cx="6723698" cy="6672501"/>
          </a:xfrm>
          <a:prstGeom prst="roundRect">
            <a:avLst>
              <a:gd name="adj" fmla="val 332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40" y="1436251"/>
            <a:ext cx="5821680" cy="5654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5440" y="7256621"/>
            <a:ext cx="2621637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Гарантируем окупаемость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65440" y="7576423"/>
            <a:ext cx="6427946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компенсируем 100% ваших вложений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389138" y="1288375"/>
            <a:ext cx="6723698" cy="6672501"/>
          </a:xfrm>
          <a:prstGeom prst="roundRect">
            <a:avLst>
              <a:gd name="adj" fmla="val 332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7013" y="1436251"/>
            <a:ext cx="4998720" cy="4495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37013" y="6098381"/>
            <a:ext cx="2161461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Средняя окупаемость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537013" y="6418183"/>
            <a:ext cx="6427946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6 месяцев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17565" y="8108752"/>
            <a:ext cx="6723698" cy="852130"/>
          </a:xfrm>
          <a:prstGeom prst="roundRect">
            <a:avLst>
              <a:gd name="adj" fmla="val 2604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9"/>
          <p:cNvSpPr/>
          <p:nvPr/>
        </p:nvSpPr>
        <p:spPr>
          <a:xfrm>
            <a:off x="665440" y="8256627"/>
            <a:ext cx="2230636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Ежемесячная выручка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65440" y="8576429"/>
            <a:ext cx="6427946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выше, чем у 80% франчайзинговых проектов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389138" y="8108752"/>
            <a:ext cx="6723698" cy="852130"/>
          </a:xfrm>
          <a:prstGeom prst="roundRect">
            <a:avLst>
              <a:gd name="adj" fmla="val 2604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2"/>
          <p:cNvSpPr/>
          <p:nvPr/>
        </p:nvSpPr>
        <p:spPr>
          <a:xfrm>
            <a:off x="7537013" y="8256627"/>
            <a:ext cx="3036094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Стабильный пассивный доход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7537013" y="8576429"/>
            <a:ext cx="6427946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партнёр получает % с каждой отгрузки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ФАКТЫ В ЦИФРАХ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96835" y="772358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Вкладываете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96835" y="1098352"/>
            <a:ext cx="3912751" cy="488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E2C2B3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590 000 ₽</a:t>
            </a:r>
            <a:endParaRPr lang="en-US" sz="3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35" y="1714857"/>
            <a:ext cx="1325880" cy="1127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6835" y="2970133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Открываете вклад в банке под 19.5%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35" y="3279100"/>
            <a:ext cx="1417320" cy="1127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6835" y="4534376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Прибыль за год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96835" y="4860369"/>
            <a:ext cx="3912751" cy="488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115 050 ₽</a:t>
            </a:r>
            <a:endParaRPr lang="en-US" sz="3050" dirty="0"/>
          </a:p>
        </p:txBody>
      </p:sp>
      <p:sp>
        <p:nvSpPr>
          <p:cNvPr id="10" name="Text 6"/>
          <p:cNvSpPr/>
          <p:nvPr/>
        </p:nvSpPr>
        <p:spPr>
          <a:xfrm>
            <a:off x="7461171" y="772358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Вкладываете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461171" y="1098352"/>
            <a:ext cx="3912751" cy="488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E2C2B3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590 000 ₽</a:t>
            </a:r>
            <a:endParaRPr lang="en-US" sz="3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171" y="1714857"/>
            <a:ext cx="1280160" cy="1127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61171" y="2970133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Становитесь партнёром ВкусВилл Бизнес</a:t>
            </a:r>
            <a:endParaRPr lang="en-US" sz="8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1171" y="3279100"/>
            <a:ext cx="1417320" cy="11887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61171" y="4595336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Прибыль за год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7461171" y="4921329"/>
            <a:ext cx="3912751" cy="488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997B7F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2 818 500 ₽</a:t>
            </a:r>
            <a:endParaRPr lang="en-US" sz="3050" dirty="0"/>
          </a:p>
        </p:txBody>
      </p:sp>
      <p:sp>
        <p:nvSpPr>
          <p:cNvPr id="18" name="Text 11"/>
          <p:cNvSpPr/>
          <p:nvPr/>
        </p:nvSpPr>
        <p:spPr>
          <a:xfrm>
            <a:off x="396835" y="23118604"/>
            <a:ext cx="2090499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МЫ НЕ ПРЕУВЕЛИЧИВАЕМ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396835" y="23465790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Это реальные показатели отгрузок по торговым точкам. С нашей партнёрской программой вы получаете свой процент с каждой такой отгрузки.</a:t>
            </a:r>
            <a:endParaRPr lang="en-US" sz="850" dirty="0"/>
          </a:p>
        </p:txBody>
      </p:sp>
      <p:sp>
        <p:nvSpPr>
          <p:cNvPr id="20" name="Text 13"/>
          <p:cNvSpPr/>
          <p:nvPr/>
        </p:nvSpPr>
        <p:spPr>
          <a:xfrm>
            <a:off x="396835" y="23774757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Хотите изнутри увидеть CRM и посмотреть живые цифры?</a:t>
            </a:r>
            <a:endParaRPr lang="en-US" sz="850" dirty="0"/>
          </a:p>
        </p:txBody>
      </p:sp>
      <p:sp>
        <p:nvSpPr>
          <p:cNvPr id="21" name="Text 14"/>
          <p:cNvSpPr/>
          <p:nvPr/>
        </p:nvSpPr>
        <p:spPr>
          <a:xfrm>
            <a:off x="396835" y="24083724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Записывайтесь к нам на Zoom встречу</a:t>
            </a:r>
            <a:endParaRPr lang="en-US" sz="8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835" y="24392692"/>
            <a:ext cx="904994" cy="311825"/>
          </a:xfrm>
          <a:prstGeom prst="rect">
            <a:avLst/>
          </a:prstGeom>
        </p:spPr>
      </p:pic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7565" y="25475803"/>
            <a:ext cx="255151" cy="2268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2813566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ТАРИФЫ ЗА УЧАСТИЕ В ПРОГРАММЕ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96835" y="715804"/>
            <a:ext cx="13836729" cy="5374124"/>
          </a:xfrm>
          <a:prstGeom prst="roundRect">
            <a:avLst>
              <a:gd name="adj" fmla="val 31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04455" y="723424"/>
            <a:ext cx="13821489" cy="36385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518041" y="799028"/>
            <a:ext cx="529804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050399" y="799028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2C2B3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Партнёр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196751" y="799028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997B7F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Представитель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4455" y="1087279"/>
            <a:ext cx="13821489" cy="64019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18041" y="1162883"/>
            <a:ext cx="529804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50399" y="1162883"/>
            <a:ext cx="3912037" cy="488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590 000 ₽</a:t>
            </a:r>
            <a:endParaRPr lang="en-US" sz="3050" dirty="0"/>
          </a:p>
        </p:txBody>
      </p:sp>
      <p:sp>
        <p:nvSpPr>
          <p:cNvPr id="11" name="Text 9"/>
          <p:cNvSpPr/>
          <p:nvPr/>
        </p:nvSpPr>
        <p:spPr>
          <a:xfrm>
            <a:off x="10196751" y="1162883"/>
            <a:ext cx="3912751" cy="488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890 000 ₽</a:t>
            </a:r>
            <a:endParaRPr lang="en-US" sz="3050" dirty="0"/>
          </a:p>
        </p:txBody>
      </p:sp>
      <p:sp>
        <p:nvSpPr>
          <p:cNvPr id="12" name="Shape 10"/>
          <p:cNvSpPr/>
          <p:nvPr/>
        </p:nvSpPr>
        <p:spPr>
          <a:xfrm>
            <a:off x="404455" y="1727478"/>
            <a:ext cx="13821489" cy="3326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518041" y="1803083"/>
            <a:ext cx="529804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Доступ к CRM системе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050399" y="1803083"/>
            <a:ext cx="391203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+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196751" y="1803083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+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4455" y="2060138"/>
            <a:ext cx="13821489" cy="3326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518041" y="2135743"/>
            <a:ext cx="529804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Доступ к постоянно обновляющейся платформе— база знаний по продажам маркетингу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050399" y="2135743"/>
            <a:ext cx="391203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+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196751" y="2135743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+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04455" y="2392799"/>
            <a:ext cx="13821489" cy="51411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518041" y="2468404"/>
            <a:ext cx="5298043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Операционное сопровождение торговых точек силами ВкусВилл Бизнес в соответствии с договором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050399" y="2468404"/>
            <a:ext cx="391203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+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196751" y="2468404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+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04455" y="2906911"/>
            <a:ext cx="13821489" cy="3326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518041" y="2982516"/>
            <a:ext cx="529804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Помощь в настройке и организации рекламных компаний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50399" y="2982516"/>
            <a:ext cx="391203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196751" y="2982516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+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04455" y="3239572"/>
            <a:ext cx="13821489" cy="3326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518041" y="3315176"/>
            <a:ext cx="529804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Брендированная продукция и тестовые образцы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50399" y="3315176"/>
            <a:ext cx="391203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+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196751" y="3315176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+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04455" y="3572232"/>
            <a:ext cx="13821489" cy="5141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518041" y="3647837"/>
            <a:ext cx="5298043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Еженедельная групповая коммуникация— для всех партнеров от руководителя направления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050399" y="3647837"/>
            <a:ext cx="391203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+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196751" y="3647837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+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04455" y="4086344"/>
            <a:ext cx="13821489" cy="3326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5"/>
          <p:cNvSpPr/>
          <p:nvPr/>
        </p:nvSpPr>
        <p:spPr>
          <a:xfrm>
            <a:off x="518041" y="4161949"/>
            <a:ext cx="529804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Закрепление персонального менеджера за партнером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050399" y="4161949"/>
            <a:ext cx="391203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+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196751" y="4161949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+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04455" y="4419005"/>
            <a:ext cx="13821489" cy="3326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1" name="Text 39"/>
          <p:cNvSpPr/>
          <p:nvPr/>
        </p:nvSpPr>
        <p:spPr>
          <a:xfrm>
            <a:off x="518041" y="4494609"/>
            <a:ext cx="529804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Набор для новичка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050399" y="4494609"/>
            <a:ext cx="391203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+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0196751" y="4494609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+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04455" y="4751665"/>
            <a:ext cx="13821489" cy="3326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5" name="Text 43"/>
          <p:cNvSpPr/>
          <p:nvPr/>
        </p:nvSpPr>
        <p:spPr>
          <a:xfrm>
            <a:off x="518041" y="4827270"/>
            <a:ext cx="529804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Практикум ВкусВилл Бизнес, 4 дня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050399" y="4827270"/>
            <a:ext cx="391203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+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0196751" y="4827270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+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04455" y="5084326"/>
            <a:ext cx="13821489" cy="3326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9" name="Text 47"/>
          <p:cNvSpPr/>
          <p:nvPr/>
        </p:nvSpPr>
        <p:spPr>
          <a:xfrm>
            <a:off x="518041" y="5159931"/>
            <a:ext cx="529804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Очное погружение в процессы: знакомство с командой, посещение офиса, экскурсии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050399" y="5159931"/>
            <a:ext cx="391203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+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0196751" y="5159931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04455" y="5416987"/>
            <a:ext cx="13821489" cy="3326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3" name="Text 51"/>
          <p:cNvSpPr/>
          <p:nvPr/>
        </p:nvSpPr>
        <p:spPr>
          <a:xfrm>
            <a:off x="518041" y="5492591"/>
            <a:ext cx="529804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При достижении оборота 80 млн рублей за период 12 мес — выплата 50% инвестиций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050399" y="5492591"/>
            <a:ext cx="391203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0196751" y="5492591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+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04455" y="5749647"/>
            <a:ext cx="13821489" cy="3326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7" name="Text 55"/>
          <p:cNvSpPr/>
          <p:nvPr/>
        </p:nvSpPr>
        <p:spPr>
          <a:xfrm>
            <a:off x="518041" y="5825252"/>
            <a:ext cx="529804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При достижении оборота 100 млн рублей за период 12 мес — выплата 100% инвестиций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050399" y="5825252"/>
            <a:ext cx="391203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0196751" y="5825252"/>
            <a:ext cx="391584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+</a:t>
            </a:r>
            <a:endParaRPr lang="en-US" sz="850" dirty="0"/>
          </a:p>
        </p:txBody>
      </p:sp>
      <p:pic>
        <p:nvPicPr>
          <p:cNvPr id="6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35" y="6217444"/>
            <a:ext cx="9304020" cy="18196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1015" y="393621"/>
            <a:ext cx="4887397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7 ШАГОВ ДО ВАШЕЙ ПРИБЫЛИ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15" y="966192"/>
            <a:ext cx="429458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587" y="1109305"/>
            <a:ext cx="1789509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Выбор тарифа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73587" y="1418749"/>
            <a:ext cx="7203638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1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85" y="1968222"/>
            <a:ext cx="429458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8256" y="2111335"/>
            <a:ext cx="4059198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Подписание договора со ВкусВилл Бизнес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288256" y="2420779"/>
            <a:ext cx="6988969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2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473" y="2970252"/>
            <a:ext cx="429458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03045" y="3113365"/>
            <a:ext cx="1789509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Практикум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503045" y="3422809"/>
            <a:ext cx="6774180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3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143" y="3972282"/>
            <a:ext cx="429458" cy="1143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17715" y="4115395"/>
            <a:ext cx="3649861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Погружение во внутренние процессы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1717715" y="4424839"/>
            <a:ext cx="6559510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4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473" y="4974312"/>
            <a:ext cx="429458" cy="1143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03045" y="5117425"/>
            <a:ext cx="2932152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Получение промо-материалов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1503045" y="5426869"/>
            <a:ext cx="6774180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5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85" y="5976342"/>
            <a:ext cx="429458" cy="11430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88256" y="6119455"/>
            <a:ext cx="1789509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Поиск партнера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1288256" y="6428899"/>
            <a:ext cx="6988969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6</a:t>
            </a:r>
            <a:endParaRPr lang="en-US" sz="11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15" y="6978372"/>
            <a:ext cx="429458" cy="11430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73587" y="7121485"/>
            <a:ext cx="1789509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Сделка</a:t>
            </a:r>
            <a:endParaRPr lang="en-US" sz="1400" dirty="0"/>
          </a:p>
        </p:txBody>
      </p:sp>
      <p:sp>
        <p:nvSpPr>
          <p:cNvPr id="23" name="Text 14"/>
          <p:cNvSpPr/>
          <p:nvPr/>
        </p:nvSpPr>
        <p:spPr>
          <a:xfrm>
            <a:off x="1073587" y="7430929"/>
            <a:ext cx="7203638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7</a:t>
            </a:r>
            <a:endParaRPr lang="en-US" sz="11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0"/>
            <a:ext cx="5852160" cy="82309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2638"/>
            <a:ext cx="51299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ПОДДЕРЖКА НА КАЖДОМ ЭТАПЕ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797129"/>
            <a:ext cx="645914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Еженедельные онлайн-встречи с лидерами направления ВкусВилл Бизнес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602230"/>
            <a:ext cx="64591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Вебинары и методическая поддержка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044428"/>
            <a:ext cx="645914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Глубокий анализ каждого аспекта деятельности партнёра и советы по улучшению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849529"/>
            <a:ext cx="645914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Чат наставников самые успешные партнёры сети делятся с вами реальным опытом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654629"/>
            <a:ext cx="645914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Еженедельное планирование и разбор показателей в конце недели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133951" y="5890736"/>
            <a:ext cx="61189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Екатерина Капеистова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33951" y="6508790"/>
            <a:ext cx="61189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Лидер развития продаж ВкусВилл Бизнеса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5635585"/>
            <a:ext cx="30480" cy="1491258"/>
          </a:xfrm>
          <a:prstGeom prst="rect">
            <a:avLst/>
          </a:prstGeom>
          <a:solidFill>
            <a:srgbClr val="E2C2B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 flipH="1">
            <a:off x="14630400" y="0"/>
            <a:ext cx="337510" cy="82296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3658" y="589359"/>
            <a:ext cx="6326505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УЧАСТИЕ В ПРОГРАММЕ ДАЁТ ВОЗМОЖНОСТИ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693658" y="1295400"/>
            <a:ext cx="4282202" cy="1371005"/>
          </a:xfrm>
          <a:prstGeom prst="roundRect">
            <a:avLst>
              <a:gd name="adj" fmla="val 2169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914638" y="1516380"/>
            <a:ext cx="3840242" cy="929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Право заключать договоры с местными магазинами от лица бренда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5173980" y="1295400"/>
            <a:ext cx="4282321" cy="1371005"/>
          </a:xfrm>
          <a:prstGeom prst="roundRect">
            <a:avLst>
              <a:gd name="adj" fmla="val 2169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394960" y="1516380"/>
            <a:ext cx="3840361" cy="619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Получение прибыли с продаж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654421" y="1295400"/>
            <a:ext cx="4282321" cy="1371005"/>
          </a:xfrm>
          <a:prstGeom prst="roundRect">
            <a:avLst>
              <a:gd name="adj" fmla="val 2169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9875401" y="1516380"/>
            <a:ext cx="3840361" cy="619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Поддержка от центра от логистики до продаж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93658" y="2864525"/>
            <a:ext cx="4282202" cy="1680686"/>
          </a:xfrm>
          <a:prstGeom prst="roundRect">
            <a:avLst>
              <a:gd name="adj" fmla="val 1769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914638" y="3085505"/>
            <a:ext cx="3840242" cy="619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Работа в бизнесе, в котором нет сезонности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5173980" y="2864525"/>
            <a:ext cx="4282321" cy="1680686"/>
          </a:xfrm>
          <a:prstGeom prst="roundRect">
            <a:avLst>
              <a:gd name="adj" fmla="val 1769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394960" y="3085505"/>
            <a:ext cx="3840361" cy="1238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Масштабирование до пассивного дохода путём построение своей сбытовой сети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654421" y="2864525"/>
            <a:ext cx="4282321" cy="1680686"/>
          </a:xfrm>
          <a:prstGeom prst="roundRect">
            <a:avLst>
              <a:gd name="adj" fmla="val 1769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9875401" y="3085505"/>
            <a:ext cx="3840361" cy="929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Доступ к уникальным маркетинговым материалам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693658" y="4743331"/>
            <a:ext cx="13243084" cy="751642"/>
          </a:xfrm>
          <a:prstGeom prst="roundRect">
            <a:avLst>
              <a:gd name="adj" fmla="val 3956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914638" y="4964311"/>
            <a:ext cx="6735128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Ежегодный слёт партнёров в Москве с экскурсией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93658" y="5717858"/>
            <a:ext cx="13243084" cy="396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ВкусВилл — это про доверие, качество и развитие. А партнёрство со </a:t>
            </a:r>
            <a:r>
              <a:rPr lang="en-US" sz="1950" b="1" dirty="0">
                <a:solidFill>
                  <a:srgbClr val="E2C2B3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ВкусВилл Бизнес</a:t>
            </a:r>
            <a:r>
              <a:rPr lang="en-US" sz="19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 — про результат.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90957" y="6559987"/>
            <a:ext cx="12945785" cy="317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Юлия Баринова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90957" y="7100054"/>
            <a:ext cx="12945785" cy="317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Лидер развития сервиса ВкусВилл Бизнеса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93658" y="6337102"/>
            <a:ext cx="22860" cy="1303020"/>
          </a:xfrm>
          <a:prstGeom prst="rect">
            <a:avLst/>
          </a:prstGeom>
          <a:solidFill>
            <a:srgbClr val="E2C2B3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521" y="587573"/>
            <a:ext cx="446115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Мы Ждём ВАС В НАШЕЙ КОМАНДЕ</a:t>
            </a:r>
            <a:endParaRPr lang="en-US" sz="1850" dirty="0"/>
          </a:p>
        </p:txBody>
      </p:sp>
      <p:sp>
        <p:nvSpPr>
          <p:cNvPr id="4" name="Shape 1"/>
          <p:cNvSpPr/>
          <p:nvPr/>
        </p:nvSpPr>
        <p:spPr>
          <a:xfrm>
            <a:off x="548521" y="1116330"/>
            <a:ext cx="8046958" cy="1190744"/>
          </a:xfrm>
          <a:prstGeom prst="roundRect">
            <a:avLst>
              <a:gd name="adj" fmla="val 1974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2"/>
          <p:cNvSpPr/>
          <p:nvPr/>
        </p:nvSpPr>
        <p:spPr>
          <a:xfrm>
            <a:off x="705207" y="1273016"/>
            <a:ext cx="470059" cy="470059"/>
          </a:xfrm>
          <a:prstGeom prst="roundRect">
            <a:avLst>
              <a:gd name="adj" fmla="val 19450932"/>
            </a:avLst>
          </a:prstGeom>
          <a:solidFill>
            <a:srgbClr val="E2C2B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1402199"/>
            <a:ext cx="211574" cy="2115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5207" y="1899761"/>
            <a:ext cx="7733586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Не переживайте за опыт в бизнесе мы вам поможем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48521" y="2463760"/>
            <a:ext cx="8046958" cy="1190744"/>
          </a:xfrm>
          <a:prstGeom prst="roundRect">
            <a:avLst>
              <a:gd name="adj" fmla="val 1974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5"/>
          <p:cNvSpPr/>
          <p:nvPr/>
        </p:nvSpPr>
        <p:spPr>
          <a:xfrm>
            <a:off x="705207" y="2620447"/>
            <a:ext cx="470059" cy="470059"/>
          </a:xfrm>
          <a:prstGeom prst="roundRect">
            <a:avLst>
              <a:gd name="adj" fmla="val 19450932"/>
            </a:avLst>
          </a:prstGeom>
          <a:solidFill>
            <a:srgbClr val="E2C2B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" y="2749629"/>
            <a:ext cx="211574" cy="21157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5207" y="3247192"/>
            <a:ext cx="7733586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Соберите свою команду и ведите бизнес удалённо из любой точки мира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548521" y="3811191"/>
            <a:ext cx="8046958" cy="1190744"/>
          </a:xfrm>
          <a:prstGeom prst="roundRect">
            <a:avLst>
              <a:gd name="adj" fmla="val 1974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8"/>
          <p:cNvSpPr/>
          <p:nvPr/>
        </p:nvSpPr>
        <p:spPr>
          <a:xfrm>
            <a:off x="705207" y="3967877"/>
            <a:ext cx="470059" cy="470059"/>
          </a:xfrm>
          <a:prstGeom prst="roundRect">
            <a:avLst>
              <a:gd name="adj" fmla="val 19450932"/>
            </a:avLst>
          </a:prstGeom>
          <a:solidFill>
            <a:srgbClr val="E2C2B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390" y="4097060"/>
            <a:ext cx="211574" cy="21157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5207" y="4594622"/>
            <a:ext cx="7733586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Увеличивайте доход и становитесь главным дистрибьютором в своём регионе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48521" y="5158621"/>
            <a:ext cx="8046958" cy="1190744"/>
          </a:xfrm>
          <a:prstGeom prst="roundRect">
            <a:avLst>
              <a:gd name="adj" fmla="val 1974"/>
            </a:avLst>
          </a:prstGeom>
          <a:solidFill>
            <a:srgbClr val="5F515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1"/>
          <p:cNvSpPr/>
          <p:nvPr/>
        </p:nvSpPr>
        <p:spPr>
          <a:xfrm>
            <a:off x="705207" y="5315307"/>
            <a:ext cx="470059" cy="470059"/>
          </a:xfrm>
          <a:prstGeom prst="roundRect">
            <a:avLst>
              <a:gd name="adj" fmla="val 19450932"/>
            </a:avLst>
          </a:prstGeom>
          <a:solidFill>
            <a:srgbClr val="E2C2B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390" y="5444490"/>
            <a:ext cx="211574" cy="21157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05207" y="5942052"/>
            <a:ext cx="7733586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Вкладывайте по минимуму зарабатывайте по максимуму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48521" y="6525578"/>
            <a:ext cx="8046958" cy="626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Наша команда поддерживает партнёров на каждом этапе, и мы тоже любим веселые и дружные слёты компании и корпоративные мероприятия.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548521" y="7328535"/>
            <a:ext cx="8046958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Присоединяйтесь к небезразличным — присоединяйтесь к ВкусВиллу!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493" y="557451"/>
            <a:ext cx="13211413" cy="1900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СТАНЬТЕ ВЛАДЕЛЬЦЕМ ВЫСОКОМАРЖИНАЛЬНОГО БИЗНЕСА ВМЕСТЕ С НАМИ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9493" y="2863453"/>
            <a:ext cx="13211413" cy="405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Подайте заявку уже сегодня. Присоединяйтесь к ВкусВилл Бизнесу!</a:t>
            </a:r>
            <a:endParaRPr lang="en-US" sz="1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93" y="3496747"/>
            <a:ext cx="1617940" cy="5574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9493" y="4282202"/>
            <a:ext cx="13211413" cy="405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b="1" dirty="0">
                <a:solidFill>
                  <a:srgbClr val="997B7F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Всего 1 шаг к рекордной прибыли вместе с лидером отрасли, записывайся на консультацию.</a:t>
            </a:r>
            <a:endParaRPr lang="en-US" sz="1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7195" y="6060281"/>
            <a:ext cx="456009" cy="4054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628</Words>
  <Application>Microsoft Office PowerPoint</Application>
  <PresentationFormat>Произвольный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Noto Serif HK</vt:lpstr>
      <vt:lpstr>Noto Serif HK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Андрей Лебедев</cp:lastModifiedBy>
  <cp:revision>2</cp:revision>
  <dcterms:created xsi:type="dcterms:W3CDTF">2025-11-10T17:10:28Z</dcterms:created>
  <dcterms:modified xsi:type="dcterms:W3CDTF">2025-11-10T17:11:51Z</dcterms:modified>
</cp:coreProperties>
</file>
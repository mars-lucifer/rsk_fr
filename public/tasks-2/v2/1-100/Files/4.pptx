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3" r:id="rId6"/>
    <p:sldId id="262" r:id="rId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300" y="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025F4-F0AE-49FB-891B-BAC188C66A9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79C2E-8BAA-43BE-B48E-ABB6C9B1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271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79C2E-8BAA-43BE-B48E-ABB6C9B11EF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7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425" y="350930"/>
            <a:ext cx="458851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C04671B-100E-701B-A8E0-7963328658B1}"/>
              </a:ext>
            </a:extLst>
          </p:cNvPr>
          <p:cNvSpPr/>
          <p:nvPr/>
        </p:nvSpPr>
        <p:spPr>
          <a:xfrm>
            <a:off x="5029200" y="57150"/>
            <a:ext cx="3581400" cy="5029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450" y="509362"/>
            <a:ext cx="381555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Inter" panose="02000503000000020004" pitchFamily="2" charset="0"/>
                <a:ea typeface="Inter" panose="02000503000000020004" pitchFamily="2" charset="0"/>
              </a:rPr>
              <a:t>Инструкция выполнения </a:t>
            </a:r>
            <a:r>
              <a:rPr sz="2200" dirty="0" err="1">
                <a:latin typeface="Inter" panose="02000503000000020004" pitchFamily="2" charset="0"/>
                <a:ea typeface="Inter" panose="02000503000000020004" pitchFamily="2" charset="0"/>
              </a:rPr>
              <a:t>задания</a:t>
            </a:r>
            <a:r>
              <a:rPr sz="2200" dirty="0">
                <a:latin typeface="Inter" panose="02000503000000020004" pitchFamily="2" charset="0"/>
                <a:ea typeface="Inter" panose="02000503000000020004" pitchFamily="2" charset="0"/>
              </a:rPr>
              <a:t> №</a:t>
            </a:r>
            <a:r>
              <a:rPr lang="en-US" sz="2200" dirty="0">
                <a:latin typeface="Inter" panose="02000503000000020004" pitchFamily="2" charset="0"/>
                <a:ea typeface="Inter" panose="02000503000000020004" pitchFamily="2" charset="0"/>
              </a:rPr>
              <a:t> 333</a:t>
            </a:r>
            <a:endParaRPr sz="2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0568" y="1885950"/>
            <a:ext cx="2738755" cy="2403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 err="1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Шаг</a:t>
            </a:r>
            <a:r>
              <a:rPr sz="1500" b="1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 0:</a:t>
            </a:r>
            <a:endParaRPr sz="1500" dirty="0">
              <a:latin typeface="Inter" panose="02000503000000020004" pitchFamily="2" charset="0"/>
              <a:ea typeface="Inter" panose="02000503000000020004" pitchFamily="2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Изучение задания</a:t>
            </a:r>
          </a:p>
          <a:p>
            <a:pPr marL="12700" marR="64135">
              <a:lnSpc>
                <a:spcPct val="100000"/>
              </a:lnSpc>
            </a:pPr>
            <a:r>
              <a:rPr sz="14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Прежде чем что-либо делать, остановитесь и внимательно изучите ваше задание.</a:t>
            </a: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i="1" dirty="0">
                <a:latin typeface="Inter" panose="02000503000000020004" pitchFamily="2" charset="0"/>
                <a:ea typeface="Inter" panose="02000503000000020004" pitchFamily="2" charset="0"/>
                <a:cs typeface="Verdana"/>
              </a:rPr>
              <a:t>Не переходите к следующему шагу, пока у вас не будет кристально ясного понимания что от вас требуется</a:t>
            </a:r>
            <a:endParaRPr sz="1400" dirty="0">
              <a:latin typeface="Inter" panose="02000503000000020004" pitchFamily="2" charset="0"/>
              <a:ea typeface="Inter" panose="02000503000000020004" pitchFamily="2" charset="0"/>
              <a:cs typeface="Verdana"/>
            </a:endParaRPr>
          </a:p>
        </p:txBody>
      </p:sp>
      <p:pic>
        <p:nvPicPr>
          <p:cNvPr id="5" name="Рисунок 4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17453D0-8547-6C02-CC34-EFDE96CE5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797" y="133350"/>
            <a:ext cx="3460206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497" y="1245520"/>
            <a:ext cx="4043809" cy="27905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200" b="1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Шаг 1: Проектирование </a:t>
            </a:r>
            <a:r>
              <a:rPr lang="ru-RU" sz="1200" b="1" dirty="0" err="1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промта</a:t>
            </a:r>
            <a:endParaRPr lang="ru-RU" sz="1200" b="1" dirty="0">
              <a:latin typeface="Inter" panose="02000503000000020004" pitchFamily="2" charset="0"/>
              <a:ea typeface="Inter" panose="02000503000000020004" pitchFamily="2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1200" b="1" dirty="0">
              <a:latin typeface="Inter" panose="02000503000000020004" pitchFamily="2" charset="0"/>
              <a:ea typeface="Inter" panose="02000503000000020004" pitchFamily="2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1. </a:t>
            </a: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Нажмите на кнопку </a:t>
            </a:r>
            <a:r>
              <a:rPr lang="ru-RU" sz="1200" b="1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«Начать задание»</a:t>
            </a:r>
            <a:br>
              <a:rPr lang="ru-RU" sz="1200" b="1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</a:br>
            <a:endParaRPr lang="ru-RU" sz="1200" b="1" dirty="0">
              <a:latin typeface="Inter" panose="02000503000000020004" pitchFamily="2" charset="0"/>
              <a:ea typeface="Inter" panose="02000503000000020004" pitchFamily="2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2.</a:t>
            </a:r>
            <a:r>
              <a:rPr lang="ru-RU" sz="1200" b="1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 </a:t>
            </a: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При необходимости (если есть «?» В левом верхнем углу карты задания) скачайте доп. Материал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 </a:t>
            </a: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и внимательно ознакомьтесь с ним</a:t>
            </a:r>
            <a:b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</a:br>
            <a:endParaRPr lang="ru-RU" sz="1200" b="1" dirty="0">
              <a:latin typeface="Inter" panose="02000503000000020004" pitchFamily="2" charset="0"/>
              <a:ea typeface="Inter" panose="02000503000000020004" pitchFamily="2" charset="0"/>
              <a:cs typeface="Tahoma"/>
            </a:endParaRPr>
          </a:p>
          <a:p>
            <a:pPr marL="12700" marR="1392555">
              <a:lnSpc>
                <a:spcPct val="1000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3. Создайте профессиональное техническое задание (</a:t>
            </a:r>
            <a:r>
              <a:rPr lang="ru-RU" sz="1200" dirty="0" err="1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промт</a:t>
            </a: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) по методологии «МАЯК ОКО», используя подсказки</a:t>
            </a:r>
            <a:b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</a:br>
            <a:endParaRPr lang="ru-RU" sz="1200" dirty="0">
              <a:latin typeface="Inter" panose="02000503000000020004" pitchFamily="2" charset="0"/>
              <a:ea typeface="Inter" panose="02000503000000020004" pitchFamily="2" charset="0"/>
              <a:cs typeface="Tahoma"/>
            </a:endParaRPr>
          </a:p>
          <a:p>
            <a:pPr marL="12700" marR="1392555">
              <a:lnSpc>
                <a:spcPct val="100000"/>
              </a:lnSpc>
            </a:pPr>
            <a:r>
              <a:rPr lang="ru-RU" sz="11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4. Нажмите на кнопку </a:t>
            </a:r>
            <a:br>
              <a:rPr lang="ru-RU" sz="1100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</a:br>
            <a:r>
              <a:rPr lang="ru-RU" sz="1100" b="1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«Создать </a:t>
            </a:r>
            <a:r>
              <a:rPr lang="ru-RU" sz="1100" b="1" dirty="0" err="1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запрсос</a:t>
            </a:r>
            <a:r>
              <a:rPr lang="ru-RU" sz="1100" b="1" dirty="0">
                <a:latin typeface="Inter" panose="02000503000000020004" pitchFamily="2" charset="0"/>
                <a:ea typeface="Inter" panose="02000503000000020004" pitchFamily="2" charset="0"/>
                <a:cs typeface="Tahoma"/>
              </a:rPr>
              <a:t>»</a:t>
            </a:r>
            <a:endParaRPr lang="ru-RU" sz="1200" dirty="0">
              <a:latin typeface="Inter" panose="02000503000000020004" pitchFamily="2" charset="0"/>
              <a:ea typeface="Inter" panose="02000503000000020004" pitchFamily="2" charset="0"/>
              <a:cs typeface="Tahoma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C9BE6BD-1345-71B0-BB45-EB584DCB3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245520"/>
            <a:ext cx="4721864" cy="2665282"/>
          </a:xfrm>
          <a:prstGeom prst="rect">
            <a:avLst/>
          </a:prstGeom>
        </p:spPr>
      </p:pic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FEB28074-9221-EB8B-5ED9-8DC118E09A14}"/>
              </a:ext>
            </a:extLst>
          </p:cNvPr>
          <p:cNvCxnSpPr>
            <a:cxnSpLocks/>
          </p:cNvCxnSpPr>
          <p:nvPr/>
        </p:nvCxnSpPr>
        <p:spPr>
          <a:xfrm flipV="1">
            <a:off x="6019800" y="2257554"/>
            <a:ext cx="335149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411A4F30-443A-26D3-9708-4958C52B34A9}"/>
              </a:ext>
            </a:extLst>
          </p:cNvPr>
          <p:cNvCxnSpPr>
            <a:cxnSpLocks/>
          </p:cNvCxnSpPr>
          <p:nvPr/>
        </p:nvCxnSpPr>
        <p:spPr>
          <a:xfrm flipV="1">
            <a:off x="3867570" y="2249036"/>
            <a:ext cx="376854" cy="2760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253A613C-8865-628F-36E8-E993C384E5CE}"/>
              </a:ext>
            </a:extLst>
          </p:cNvPr>
          <p:cNvCxnSpPr>
            <a:cxnSpLocks/>
          </p:cNvCxnSpPr>
          <p:nvPr/>
        </p:nvCxnSpPr>
        <p:spPr>
          <a:xfrm flipV="1">
            <a:off x="4195146" y="3835367"/>
            <a:ext cx="376854" cy="2760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38E0C84-86BA-4A2A-DBCB-AA7877E1D9F9}"/>
              </a:ext>
            </a:extLst>
          </p:cNvPr>
          <p:cNvSpPr txBox="1"/>
          <p:nvPr/>
        </p:nvSpPr>
        <p:spPr>
          <a:xfrm>
            <a:off x="5746008" y="257175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FE5A71-D2CF-AF17-D770-A802E74FC7C4}"/>
              </a:ext>
            </a:extLst>
          </p:cNvPr>
          <p:cNvSpPr txBox="1"/>
          <p:nvPr/>
        </p:nvSpPr>
        <p:spPr>
          <a:xfrm>
            <a:off x="3685719" y="25251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8D9CD1-7314-F339-E69D-23792806C52E}"/>
              </a:ext>
            </a:extLst>
          </p:cNvPr>
          <p:cNvSpPr txBox="1"/>
          <p:nvPr/>
        </p:nvSpPr>
        <p:spPr>
          <a:xfrm>
            <a:off x="3962400" y="408345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4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0C7CD0A6-F6E5-FAED-DA95-1E17289261D7}"/>
              </a:ext>
            </a:extLst>
          </p:cNvPr>
          <p:cNvCxnSpPr>
            <a:cxnSpLocks/>
          </p:cNvCxnSpPr>
          <p:nvPr/>
        </p:nvCxnSpPr>
        <p:spPr>
          <a:xfrm flipH="1" flipV="1">
            <a:off x="7883568" y="2301206"/>
            <a:ext cx="296035" cy="3373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5DB562-39A2-BB11-0050-D77AB7F7EA2A}"/>
              </a:ext>
            </a:extLst>
          </p:cNvPr>
          <p:cNvSpPr txBox="1"/>
          <p:nvPr/>
        </p:nvSpPr>
        <p:spPr>
          <a:xfrm>
            <a:off x="8094677" y="257175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3F5C0C1-90F6-044D-2A60-03B33C084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85" y="900089"/>
            <a:ext cx="5216399" cy="293729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67400" y="1906183"/>
            <a:ext cx="2939150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200" b="1" spc="-100" dirty="0">
                <a:latin typeface="Inter" panose="02000503000000020004" pitchFamily="2" charset="0"/>
                <a:ea typeface="Inter" panose="02000503000000020004" pitchFamily="2" charset="0"/>
              </a:rPr>
              <a:t>Шаг</a:t>
            </a:r>
            <a:r>
              <a:rPr lang="ru-RU" sz="1200" b="1" spc="-6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200" b="1" spc="-40" dirty="0">
                <a:latin typeface="Inter" panose="02000503000000020004" pitchFamily="2" charset="0"/>
                <a:ea typeface="Inter" panose="02000503000000020004" pitchFamily="2" charset="0"/>
              </a:rPr>
              <a:t>2:</a:t>
            </a:r>
            <a:r>
              <a:rPr lang="ru-RU" sz="1200" b="1" spc="-6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200" b="1" spc="-30" dirty="0">
                <a:latin typeface="Inter" panose="02000503000000020004" pitchFamily="2" charset="0"/>
                <a:ea typeface="Inter" panose="02000503000000020004" pitchFamily="2" charset="0"/>
              </a:rPr>
              <a:t>Переход</a:t>
            </a:r>
            <a:r>
              <a:rPr lang="ru-RU" sz="1200" b="1" spc="-6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200" b="1" spc="-50" dirty="0">
                <a:latin typeface="Inter" panose="02000503000000020004" pitchFamily="2" charset="0"/>
                <a:ea typeface="Inter" panose="02000503000000020004" pitchFamily="2" charset="0"/>
              </a:rPr>
              <a:t>в </a:t>
            </a:r>
            <a:r>
              <a:rPr lang="ru-RU" sz="1200" b="1" spc="-30" dirty="0">
                <a:latin typeface="Inter" panose="02000503000000020004" pitchFamily="2" charset="0"/>
                <a:ea typeface="Inter" panose="02000503000000020004" pitchFamily="2" charset="0"/>
              </a:rPr>
              <a:t>рекомендованный</a:t>
            </a:r>
            <a:r>
              <a:rPr lang="ru-RU" sz="1200" b="1" spc="-2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200" b="1" spc="-10" dirty="0">
                <a:latin typeface="Inter" panose="02000503000000020004" pitchFamily="2" charset="0"/>
                <a:ea typeface="Inter" panose="02000503000000020004" pitchFamily="2" charset="0"/>
              </a:rPr>
              <a:t>сервис</a:t>
            </a:r>
            <a:endParaRPr lang="en-US" sz="1200" b="1" spc="-1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200" dirty="0">
              <a:latin typeface="Inter" panose="02000503000000020004" pitchFamily="2" charset="0"/>
              <a:ea typeface="Inter" panose="02000503000000020004" pitchFamily="2" charset="0"/>
              <a:cs typeface="Yu Gothic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 err="1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По</a:t>
            </a:r>
            <a:r>
              <a:rPr sz="12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 номеру вашего задания перейдите в рекомендованный сервис. Для этого нажмите на соответствующую кнопку в интерфейсе.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8B9E5A1A-404D-A348-4CF8-6A9172D5F4AE}"/>
              </a:ext>
            </a:extLst>
          </p:cNvPr>
          <p:cNvCxnSpPr>
            <a:cxnSpLocks/>
          </p:cNvCxnSpPr>
          <p:nvPr/>
        </p:nvCxnSpPr>
        <p:spPr>
          <a:xfrm flipV="1">
            <a:off x="4648200" y="2103135"/>
            <a:ext cx="304800" cy="363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58648D6-8049-0767-3A13-D6969B15A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0992"/>
            <a:ext cx="3988052" cy="216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264BFD-38AA-ED0A-2AA6-8E1564C26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21" y="2495550"/>
            <a:ext cx="3961810" cy="2160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53000" y="1657350"/>
            <a:ext cx="3733800" cy="177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0985">
              <a:lnSpc>
                <a:spcPct val="100000"/>
              </a:lnSpc>
              <a:spcBef>
                <a:spcPts val="100"/>
              </a:spcBef>
            </a:pPr>
            <a:r>
              <a:rPr lang="ru-RU" sz="1400" b="1" spc="-100" dirty="0">
                <a:latin typeface="Inter" panose="02000503000000020004" pitchFamily="2" charset="0"/>
                <a:ea typeface="Inter" panose="02000503000000020004" pitchFamily="2" charset="0"/>
              </a:rPr>
              <a:t>Шаг</a:t>
            </a:r>
            <a:r>
              <a:rPr lang="ru-RU" sz="1400" b="1" spc="-7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400" b="1" spc="-25" dirty="0">
                <a:latin typeface="Inter" panose="02000503000000020004" pitchFamily="2" charset="0"/>
                <a:ea typeface="Inter" panose="02000503000000020004" pitchFamily="2" charset="0"/>
              </a:rPr>
              <a:t>3:</a:t>
            </a:r>
            <a:r>
              <a:rPr lang="ru-RU" sz="1400" b="1" spc="-7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400" b="1" spc="-30" dirty="0">
                <a:latin typeface="Inter" panose="02000503000000020004" pitchFamily="2" charset="0"/>
                <a:ea typeface="Inter" panose="02000503000000020004" pitchFamily="2" charset="0"/>
              </a:rPr>
              <a:t>Пройдите</a:t>
            </a:r>
            <a:r>
              <a:rPr lang="ru-RU" sz="1400" b="1" spc="-7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400" b="1" spc="-25" dirty="0">
                <a:latin typeface="Inter" panose="02000503000000020004" pitchFamily="2" charset="0"/>
                <a:ea typeface="Inter" panose="02000503000000020004" pitchFamily="2" charset="0"/>
              </a:rPr>
              <a:t>регистрацию</a:t>
            </a:r>
            <a:br>
              <a:rPr lang="ru-RU" sz="1400" b="1" spc="-25" dirty="0">
                <a:latin typeface="Inter" panose="02000503000000020004" pitchFamily="2" charset="0"/>
                <a:ea typeface="Inter" panose="02000503000000020004" pitchFamily="2" charset="0"/>
              </a:rPr>
            </a:br>
            <a:endParaRPr lang="ru-RU" sz="1400" b="1" spc="-20" dirty="0">
              <a:latin typeface="Inter" panose="02000503000000020004" pitchFamily="2" charset="0"/>
              <a:ea typeface="Inter" panose="02000503000000020004" pitchFamily="2" charset="0"/>
              <a:cs typeface="Microsoft Sans Serif"/>
            </a:endParaRPr>
          </a:p>
          <a:p>
            <a:pPr marL="12700" marR="260985">
              <a:lnSpc>
                <a:spcPct val="100000"/>
              </a:lnSpc>
              <a:spcBef>
                <a:spcPts val="100"/>
              </a:spcBef>
            </a:pPr>
            <a:r>
              <a:rPr lang="ru-RU" sz="1400" spc="-2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Для</a:t>
            </a:r>
            <a:r>
              <a:rPr lang="ru-RU" sz="1400" spc="-5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доступа</a:t>
            </a:r>
            <a:r>
              <a:rPr lang="ru-RU" sz="1400" spc="-5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к</a:t>
            </a:r>
            <a:r>
              <a:rPr lang="ru-RU" sz="1400" spc="-5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spc="-1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сервису необходимо</a:t>
            </a:r>
            <a:r>
              <a:rPr lang="ru-RU" sz="1400" spc="-4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войти</a:t>
            </a:r>
            <a:r>
              <a:rPr lang="ru-RU" sz="1400" spc="-4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в</a:t>
            </a:r>
            <a:r>
              <a:rPr lang="ru-RU" sz="1400" spc="-4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spc="-2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систему.</a:t>
            </a:r>
            <a:endParaRPr lang="ru-RU" sz="1400" dirty="0">
              <a:latin typeface="Inter" panose="02000503000000020004" pitchFamily="2" charset="0"/>
              <a:ea typeface="Inter" panose="02000503000000020004" pitchFamily="2" charset="0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ru-RU" sz="1400" dirty="0">
              <a:latin typeface="Inter" panose="02000503000000020004" pitchFamily="2" charset="0"/>
              <a:ea typeface="Inter" panose="02000503000000020004" pitchFamily="2" charset="0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lang="ru-RU" sz="1400" spc="-2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Рекомендуем</a:t>
            </a:r>
            <a:r>
              <a:rPr lang="ru-RU" sz="1400" spc="-15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spc="-2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использовать</a:t>
            </a:r>
            <a:r>
              <a:rPr lang="ru-RU" sz="1400" spc="-15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spc="-25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ваш </a:t>
            </a:r>
            <a:r>
              <a:rPr lang="ru-RU" sz="1400" spc="-35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Google-</a:t>
            </a: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аккаунт</a:t>
            </a:r>
            <a:r>
              <a:rPr lang="ru-RU" sz="1400" spc="5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для</a:t>
            </a:r>
            <a:r>
              <a:rPr lang="ru-RU" sz="1400" spc="5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 </a:t>
            </a:r>
            <a:r>
              <a:rPr lang="ru-RU" sz="1400" spc="-10" dirty="0">
                <a:latin typeface="Inter" panose="02000503000000020004" pitchFamily="2" charset="0"/>
                <a:ea typeface="Inter" panose="02000503000000020004" pitchFamily="2" charset="0"/>
                <a:cs typeface="Microsoft Sans Serif"/>
              </a:rPr>
              <a:t>быстрого входа</a:t>
            </a:r>
            <a:endParaRPr lang="ru-RU" sz="1400" dirty="0">
              <a:latin typeface="Inter" panose="02000503000000020004" pitchFamily="2" charset="0"/>
              <a:ea typeface="Inter" panose="02000503000000020004" pitchFamily="2" charset="0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Inter" panose="02000503000000020004" pitchFamily="2" charset="0"/>
              <a:ea typeface="Inter" panose="02000503000000020004" pitchFamily="2" charset="0"/>
              <a:cs typeface="Yu Gothic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6A0DCFC-2913-302E-3867-4B635B77699B}"/>
              </a:ext>
            </a:extLst>
          </p:cNvPr>
          <p:cNvCxnSpPr>
            <a:cxnSpLocks/>
          </p:cNvCxnSpPr>
          <p:nvPr/>
        </p:nvCxnSpPr>
        <p:spPr>
          <a:xfrm flipV="1">
            <a:off x="3738052" y="233439"/>
            <a:ext cx="381000" cy="3292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65C5813-DC21-C51C-8343-88EFF4736BBD}"/>
              </a:ext>
            </a:extLst>
          </p:cNvPr>
          <p:cNvCxnSpPr>
            <a:cxnSpLocks/>
          </p:cNvCxnSpPr>
          <p:nvPr/>
        </p:nvCxnSpPr>
        <p:spPr>
          <a:xfrm flipV="1">
            <a:off x="1371600" y="3557146"/>
            <a:ext cx="457200" cy="2421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21EFED5-DDF5-659E-05E8-E98555E1581B}"/>
              </a:ext>
            </a:extLst>
          </p:cNvPr>
          <p:cNvSpPr txBox="1"/>
          <p:nvPr/>
        </p:nvSpPr>
        <p:spPr>
          <a:xfrm>
            <a:off x="3581599" y="6049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728C39-F65F-E0AF-358B-77B9B704907B}"/>
              </a:ext>
            </a:extLst>
          </p:cNvPr>
          <p:cNvSpPr txBox="1"/>
          <p:nvPr/>
        </p:nvSpPr>
        <p:spPr>
          <a:xfrm>
            <a:off x="1103534" y="37992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5DADF5-3E94-EDEC-F247-006683109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09495"/>
            <a:ext cx="4021092" cy="216000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9D828AA9-B0F5-CB43-CD1D-EC3AA201EA01}"/>
              </a:ext>
            </a:extLst>
          </p:cNvPr>
          <p:cNvSpPr txBox="1"/>
          <p:nvPr/>
        </p:nvSpPr>
        <p:spPr>
          <a:xfrm>
            <a:off x="4724400" y="819150"/>
            <a:ext cx="4331381" cy="1369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400" b="1" dirty="0">
                <a:latin typeface="Inter" panose="02000503000000020004" pitchFamily="2" charset="0"/>
                <a:ea typeface="Inter" panose="02000503000000020004" pitchFamily="2" charset="0"/>
              </a:rPr>
              <a:t>Шаг 4: Запуск и получение результата</a:t>
            </a:r>
            <a:endParaRPr lang="en-US" sz="1400" b="1" dirty="0">
              <a:latin typeface="Inter" panose="02000503000000020004" pitchFamily="2" charset="0"/>
              <a:ea typeface="Inter" panose="02000503000000020004" pitchFamily="2" charset="0"/>
              <a:cs typeface="Yu Gothic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AutoNum type="arabicPeriod"/>
            </a:pP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Нажмите на кнопку «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Agent</a:t>
            </a: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»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AutoNum type="arabicPeriod"/>
            </a:pP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Выберите режим «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Full Stack</a:t>
            </a: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»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AutoNum type="arabicPeriod"/>
            </a:pP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Вставьте </a:t>
            </a:r>
            <a:r>
              <a:rPr lang="ru-RU" sz="1400" dirty="0" err="1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промт</a:t>
            </a:r>
            <a:endParaRPr lang="ru-RU" sz="1400" dirty="0">
              <a:latin typeface="Inter" panose="02000503000000020004" pitchFamily="2" charset="0"/>
              <a:ea typeface="Inter" panose="02000503000000020004" pitchFamily="2" charset="0"/>
              <a:cs typeface="Yu Gothic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AutoNum type="arabicPeriod"/>
            </a:pP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После получения результата нажмите на «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Publish</a:t>
            </a: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»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AutoNum type="arabicPeriod"/>
            </a:pPr>
            <a:r>
              <a:rPr lang="ru-RU" sz="14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Скопируйте ссылку и прикрепите как результат</a:t>
            </a:r>
            <a:endParaRPr sz="1400" dirty="0">
              <a:latin typeface="Inter" panose="02000503000000020004" pitchFamily="2" charset="0"/>
              <a:ea typeface="Inter" panose="02000503000000020004" pitchFamily="2" charset="0"/>
              <a:cs typeface="Yu Gothic"/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F3529B69-1E0A-F79A-4BA4-03F9803124FE}"/>
              </a:ext>
            </a:extLst>
          </p:cNvPr>
          <p:cNvCxnSpPr>
            <a:cxnSpLocks/>
          </p:cNvCxnSpPr>
          <p:nvPr/>
        </p:nvCxnSpPr>
        <p:spPr>
          <a:xfrm flipV="1">
            <a:off x="2819400" y="1504950"/>
            <a:ext cx="381000" cy="3292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6B2B4D2B-608A-8276-4FF5-E5C3937F44FE}"/>
              </a:ext>
            </a:extLst>
          </p:cNvPr>
          <p:cNvCxnSpPr>
            <a:cxnSpLocks/>
          </p:cNvCxnSpPr>
          <p:nvPr/>
        </p:nvCxnSpPr>
        <p:spPr>
          <a:xfrm flipV="1">
            <a:off x="1895465" y="1734309"/>
            <a:ext cx="381000" cy="3292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3C9522B-64FD-6B0E-7F99-C9B697A8DE7E}"/>
              </a:ext>
            </a:extLst>
          </p:cNvPr>
          <p:cNvCxnSpPr>
            <a:cxnSpLocks/>
          </p:cNvCxnSpPr>
          <p:nvPr/>
        </p:nvCxnSpPr>
        <p:spPr>
          <a:xfrm flipV="1">
            <a:off x="7316835" y="4240027"/>
            <a:ext cx="381000" cy="3292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7BA0B8-0C9A-7383-13EA-A9F10628E3DB}"/>
              </a:ext>
            </a:extLst>
          </p:cNvPr>
          <p:cNvSpPr txBox="1"/>
          <p:nvPr/>
        </p:nvSpPr>
        <p:spPr>
          <a:xfrm>
            <a:off x="2656815" y="18479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4E811-07A6-2AD1-3AB9-FF55293B3EFC}"/>
              </a:ext>
            </a:extLst>
          </p:cNvPr>
          <p:cNvSpPr txBox="1"/>
          <p:nvPr/>
        </p:nvSpPr>
        <p:spPr>
          <a:xfrm>
            <a:off x="1147587" y="16495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F1AEFC-016C-CBB7-CD7E-1DE91643015A}"/>
              </a:ext>
            </a:extLst>
          </p:cNvPr>
          <p:cNvSpPr txBox="1"/>
          <p:nvPr/>
        </p:nvSpPr>
        <p:spPr>
          <a:xfrm>
            <a:off x="7027848" y="447675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51C6936A-0C19-59D1-DBE1-5DB329562AC4}"/>
              </a:ext>
            </a:extLst>
          </p:cNvPr>
          <p:cNvCxnSpPr>
            <a:cxnSpLocks/>
          </p:cNvCxnSpPr>
          <p:nvPr/>
        </p:nvCxnSpPr>
        <p:spPr>
          <a:xfrm flipV="1">
            <a:off x="1371600" y="1340328"/>
            <a:ext cx="381000" cy="3292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78E09D4-A7D7-9915-F999-D25D32BD544E}"/>
              </a:ext>
            </a:extLst>
          </p:cNvPr>
          <p:cNvSpPr txBox="1"/>
          <p:nvPr/>
        </p:nvSpPr>
        <p:spPr>
          <a:xfrm>
            <a:off x="1773059" y="204378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26DF04-5878-C08B-BE23-980F47DE4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92" y="2753582"/>
            <a:ext cx="3962322" cy="216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012A78-9631-3F78-60E0-B90EA4E84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388" y="2688242"/>
            <a:ext cx="4003596" cy="2160000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C0E38B6-5586-A6FC-9020-E3DB783168E3}"/>
              </a:ext>
            </a:extLst>
          </p:cNvPr>
          <p:cNvCxnSpPr>
            <a:cxnSpLocks/>
          </p:cNvCxnSpPr>
          <p:nvPr/>
        </p:nvCxnSpPr>
        <p:spPr>
          <a:xfrm flipV="1">
            <a:off x="3657600" y="3028950"/>
            <a:ext cx="381000" cy="3292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ACE46A-8F4E-B149-FFC7-C6F8BD7A7026}"/>
              </a:ext>
            </a:extLst>
          </p:cNvPr>
          <p:cNvSpPr txBox="1"/>
          <p:nvPr/>
        </p:nvSpPr>
        <p:spPr>
          <a:xfrm>
            <a:off x="3501147" y="337913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4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56F25C95-72CF-398A-59AB-CB18DEE9E22C}"/>
              </a:ext>
            </a:extLst>
          </p:cNvPr>
          <p:cNvCxnSpPr>
            <a:cxnSpLocks/>
          </p:cNvCxnSpPr>
          <p:nvPr/>
        </p:nvCxnSpPr>
        <p:spPr>
          <a:xfrm flipV="1">
            <a:off x="6019800" y="3995106"/>
            <a:ext cx="381000" cy="3292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042E14-046F-32F1-F14A-66A1C81A5913}"/>
              </a:ext>
            </a:extLst>
          </p:cNvPr>
          <p:cNvSpPr txBox="1"/>
          <p:nvPr/>
        </p:nvSpPr>
        <p:spPr>
          <a:xfrm>
            <a:off x="5718854" y="424002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1366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51009" y="285750"/>
            <a:ext cx="7749992" cy="2764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42029">
              <a:lnSpc>
                <a:spcPct val="100000"/>
              </a:lnSpc>
              <a:spcBef>
                <a:spcPts val="100"/>
              </a:spcBef>
            </a:pPr>
            <a:r>
              <a:rPr lang="ru-RU" sz="1200" b="1" dirty="0">
                <a:latin typeface="Inter" panose="02000503000000020004" pitchFamily="2" charset="0"/>
                <a:ea typeface="Inter" panose="02000503000000020004" pitchFamily="2" charset="0"/>
              </a:rPr>
              <a:t>Шаг 5: Сдача задания и проверка инспектором</a:t>
            </a:r>
            <a:endParaRPr lang="ru-RU" sz="1200" b="1" dirty="0">
              <a:latin typeface="Inter" panose="02000503000000020004" pitchFamily="2" charset="0"/>
              <a:ea typeface="Inter" panose="02000503000000020004" pitchFamily="2" charset="0"/>
              <a:cs typeface="Yu Gothic"/>
            </a:endParaRPr>
          </a:p>
          <a:p>
            <a:pPr marL="469900" marR="3535679" indent="-35242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69900" algn="l"/>
              </a:tabLst>
            </a:pPr>
            <a:r>
              <a:rPr sz="1200" dirty="0" err="1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Подготовьте</a:t>
            </a:r>
            <a:r>
              <a:rPr sz="12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 </a:t>
            </a:r>
            <a:r>
              <a:rPr sz="1200" dirty="0" err="1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материалы</a:t>
            </a: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 - </a:t>
            </a:r>
            <a:r>
              <a:rPr sz="1200" dirty="0" err="1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Итоговый</a:t>
            </a:r>
            <a:r>
              <a:rPr sz="12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 документ с результатом (который вы сохранили в Word)</a:t>
            </a: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 или же подходящий формат( 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mp3, jpeg)</a:t>
            </a:r>
          </a:p>
          <a:p>
            <a:pPr marL="469900" marR="3535679" indent="-35242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69900" algn="l"/>
              </a:tabLst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Завершите задание – нажав на соответствующую кнопку</a:t>
            </a:r>
          </a:p>
          <a:p>
            <a:pPr marL="469900" marR="3535679" indent="-35242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69900" algn="l"/>
              </a:tabLst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Скопируйте описание вашего задания</a:t>
            </a:r>
          </a:p>
          <a:p>
            <a:pPr marL="469900" marR="3535679" indent="-35242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69900" algn="l"/>
              </a:tabLst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  <a:cs typeface="Yu Gothic"/>
              </a:rPr>
              <a:t>Вставьте в чат телеграмма своего стола с прикреплённым результатом задания</a:t>
            </a:r>
            <a:endParaRPr sz="1200" dirty="0">
              <a:latin typeface="Inter" panose="02000503000000020004" pitchFamily="2" charset="0"/>
              <a:ea typeface="Inter" panose="02000503000000020004" pitchFamily="2" charset="0"/>
              <a:cs typeface="Yu Gothic"/>
            </a:endParaRPr>
          </a:p>
          <a:p>
            <a:pPr marR="355600" algn="ctr">
              <a:lnSpc>
                <a:spcPct val="100000"/>
              </a:lnSpc>
              <a:spcBef>
                <a:spcPts val="1690"/>
              </a:spcBef>
            </a:pPr>
            <a:endParaRPr lang="en-US" sz="1200" dirty="0">
              <a:latin typeface="Inter" panose="02000503000000020004" pitchFamily="2" charset="0"/>
              <a:ea typeface="Inter" panose="02000503000000020004" pitchFamily="2" charset="0"/>
              <a:cs typeface="Yu Gothic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EB8290-DC58-F690-121B-AEAC7EA64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461" y="465643"/>
            <a:ext cx="4505706" cy="210610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74F64D9-C056-D233-17E8-E8537A917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008" y="2783401"/>
            <a:ext cx="4347034" cy="206818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9ED2B6A-E596-5C6E-5EAA-88E23AA8B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113" y="3073828"/>
            <a:ext cx="2514600" cy="1791501"/>
          </a:xfrm>
          <a:prstGeom prst="rect">
            <a:avLst/>
          </a:prstGeom>
        </p:spPr>
      </p:pic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72BED62E-8217-EF4F-3B52-2296779D1D62}"/>
              </a:ext>
            </a:extLst>
          </p:cNvPr>
          <p:cNvCxnSpPr>
            <a:cxnSpLocks/>
          </p:cNvCxnSpPr>
          <p:nvPr/>
        </p:nvCxnSpPr>
        <p:spPr>
          <a:xfrm flipV="1">
            <a:off x="6553200" y="1323200"/>
            <a:ext cx="617884" cy="4103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B9326BA-64A5-1276-D219-2973DAFFB41C}"/>
              </a:ext>
            </a:extLst>
          </p:cNvPr>
          <p:cNvCxnSpPr>
            <a:cxnSpLocks/>
          </p:cNvCxnSpPr>
          <p:nvPr/>
        </p:nvCxnSpPr>
        <p:spPr>
          <a:xfrm flipV="1">
            <a:off x="5257800" y="3407142"/>
            <a:ext cx="617884" cy="4103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035316-4767-F51A-3020-27C7BD6050AE}"/>
              </a:ext>
            </a:extLst>
          </p:cNvPr>
          <p:cNvCxnSpPr>
            <a:cxnSpLocks/>
          </p:cNvCxnSpPr>
          <p:nvPr/>
        </p:nvCxnSpPr>
        <p:spPr>
          <a:xfrm flipV="1">
            <a:off x="516321" y="3612317"/>
            <a:ext cx="642792" cy="2441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EE0E4E-C77B-B4DF-325D-D13DE2CE2298}"/>
              </a:ext>
            </a:extLst>
          </p:cNvPr>
          <p:cNvSpPr txBox="1"/>
          <p:nvPr/>
        </p:nvSpPr>
        <p:spPr>
          <a:xfrm>
            <a:off x="6270195" y="17476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735033-F8CC-8127-6639-F00CDC0E7E38}"/>
              </a:ext>
            </a:extLst>
          </p:cNvPr>
          <p:cNvSpPr txBox="1"/>
          <p:nvPr/>
        </p:nvSpPr>
        <p:spPr>
          <a:xfrm>
            <a:off x="5004103" y="37664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B8EEA9-177E-EBC0-9EE7-C0A600415D08}"/>
              </a:ext>
            </a:extLst>
          </p:cNvPr>
          <p:cNvSpPr txBox="1"/>
          <p:nvPr/>
        </p:nvSpPr>
        <p:spPr>
          <a:xfrm>
            <a:off x="239107" y="38641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2783</TotalTime>
  <Words>258</Words>
  <Application>Microsoft Office PowerPoint</Application>
  <PresentationFormat>Экран (16:9)</PresentationFormat>
  <Paragraphs>45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Calibri</vt:lpstr>
      <vt:lpstr>Inter</vt:lpstr>
      <vt:lpstr>Tahoma</vt:lpstr>
      <vt:lpstr>Office Theme</vt:lpstr>
      <vt:lpstr>Инструкция выполнения задания № 333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- 12</dc:title>
  <cp:lastModifiedBy>Андрей Лебедев</cp:lastModifiedBy>
  <cp:revision>14</cp:revision>
  <dcterms:created xsi:type="dcterms:W3CDTF">2025-10-14T15:41:57Z</dcterms:created>
  <dcterms:modified xsi:type="dcterms:W3CDTF">2026-02-18T11:46:56Z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2025-10-14T00:00:00Z</vt:filetime>
  </property>
</Properties>
</file>
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1" r:id="rId3"/>
    <p:sldId id="275" r:id="rId4"/>
    <p:sldId id="274" r:id="rId5"/>
    <p:sldId id="278" r:id="rId6"/>
    <p:sldId id="277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7" autoAdjust="0"/>
    <p:restoredTop sz="94660"/>
  </p:normalViewPr>
  <p:slideViewPr>
    <p:cSldViewPr>
      <p:cViewPr varScale="1">
        <p:scale>
          <a:sx n="104" d="100"/>
          <a:sy n="104" d="100"/>
        </p:scale>
        <p:origin x="1436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80987-62AC-48E1-9C95-02C8C248C377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0C02B-72AE-4AE7-9F5E-AF1790580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97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 (Демографический еженедельник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Демоскоп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Weekly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№ 429 – 430, 1 - 22 августа 2010, Демографический барометр, к.э.н. Екатерина Щербакова)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0C02B-72AE-4AE7-9F5E-AF17905803C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02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 1950 году, в мире, доля городского населения составляла 30%, в 1975 году – 37%, в 2009 году она перешагнула за половину, а к 2050 году, ожидается,  возрастет до 70%. К 2050 году доля городского населения в развитых странах вырастет с 75% до 86%, в развивающихся - с 45% до 66%.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0C02B-72AE-4AE7-9F5E-AF17905803C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3328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356453D-9A58-4CA5-B289-85C25BD5A52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6177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774A7-BE25-484E-8F08-47EE2B4DD2F0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63A44-F0B0-4BCE-BCE7-3E7C0F60C66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Управление городскими агломерациями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75CB6ED-9D0F-2B54-4E4F-D54A8F117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Урбанистика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Наука – занимающаяся комплексным анализом и изучением проблем, связанных с функционированием и развитием городских центров.</a:t>
            </a:r>
          </a:p>
          <a:p>
            <a:r>
              <a:rPr lang="ru-RU" dirty="0"/>
              <a:t>Изначально – раздел экономической географии</a:t>
            </a:r>
          </a:p>
          <a:p>
            <a:r>
              <a:rPr lang="ru-RU" dirty="0"/>
              <a:t>Вторая половина 20 века- появление таких отраслей экономической науки как пространственная экономика, экономика города и пр.</a:t>
            </a:r>
          </a:p>
          <a:p>
            <a:r>
              <a:rPr lang="ru-RU" dirty="0"/>
              <a:t>В настоящее время имеет междисциплинарный характер, являясь наукой, находящейся на стыке экономической географии, экономики, социологии ….</a:t>
            </a:r>
          </a:p>
        </p:txBody>
      </p:sp>
    </p:spTree>
    <p:extLst>
      <p:ext uri="{BB962C8B-B14F-4D97-AF65-F5344CB8AC3E}">
        <p14:creationId xmlns:p14="http://schemas.microsoft.com/office/powerpoint/2010/main" val="66656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Доля городского населения в мире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1950 году - доля городского населения составляла 30%, в 1975 году – 37%, в 2009 году она перешагнула за половину, а к 2050 году, ожидается,  возрастет до 70%. </a:t>
            </a:r>
          </a:p>
          <a:p>
            <a:r>
              <a:rPr lang="ru-RU" dirty="0"/>
              <a:t>К 2050 году доля городского населения в развитых странах вырастет с 75% до 86%, в развивающихся - с 45% до 66%. </a:t>
            </a:r>
          </a:p>
        </p:txBody>
      </p:sp>
    </p:spTree>
    <p:extLst>
      <p:ext uri="{BB962C8B-B14F-4D97-AF65-F5344CB8AC3E}">
        <p14:creationId xmlns:p14="http://schemas.microsoft.com/office/powerpoint/2010/main" val="3462900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Рост доли городского населения в мире  (1950-2050)</a:t>
            </a:r>
          </a:p>
        </p:txBody>
      </p:sp>
      <p:pic>
        <p:nvPicPr>
          <p:cNvPr id="4" name="Объект 3" descr="http://www.demoscope.ru/weekly/2010/0429/img/b_graf09.jpg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56792"/>
            <a:ext cx="6336704" cy="446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0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0" y="14288"/>
          <a:ext cx="8640763" cy="684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Диаграмма" r:id="rId2" imgW="5190978" imgH="3448078" progId="MSGraph.Chart.8">
                  <p:embed/>
                </p:oleObj>
              </mc:Choice>
              <mc:Fallback>
                <p:oleObj name="Диаграмма" r:id="rId2" imgW="5190978" imgH="3448078" progId="MSGraph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288"/>
                        <a:ext cx="8640763" cy="684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" name="Line 1"/>
          <p:cNvSpPr>
            <a:spLocks noChangeShapeType="1"/>
          </p:cNvSpPr>
          <p:nvPr/>
        </p:nvSpPr>
        <p:spPr bwMode="auto">
          <a:xfrm flipH="1" flipV="1">
            <a:off x="433388" y="776288"/>
            <a:ext cx="6286500" cy="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659563" y="1412875"/>
            <a:ext cx="2449512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66000"/>
                  </a:schemeClr>
                </a:solidFill>
              </a14:hiddenFill>
            </a:ext>
          </a:extLst>
        </p:spPr>
        <p:txBody>
          <a:bodyPr/>
          <a:lstStyle/>
          <a:p>
            <a:r>
              <a:rPr lang="ru-RU" altLang="ru-RU" sz="2600" b="1"/>
              <a:t> </a:t>
            </a:r>
            <a:r>
              <a:rPr lang="ru-RU" altLang="ru-RU" sz="2400" b="1">
                <a:solidFill>
                  <a:schemeClr val="accent2"/>
                </a:solidFill>
              </a:rPr>
              <a:t>Динамика доли городского населения в  ХХ веке по некоторым странам, группам </a:t>
            </a:r>
            <a:br>
              <a:rPr lang="ru-RU" altLang="ru-RU" sz="2400" b="1">
                <a:solidFill>
                  <a:schemeClr val="accent2"/>
                </a:solidFill>
              </a:rPr>
            </a:br>
            <a:r>
              <a:rPr lang="ru-RU" altLang="ru-RU" sz="2400" b="1">
                <a:solidFill>
                  <a:schemeClr val="accent2"/>
                </a:solidFill>
              </a:rPr>
              <a:t>стран и континентам</a:t>
            </a:r>
          </a:p>
        </p:txBody>
      </p:sp>
      <p:sp>
        <p:nvSpPr>
          <p:cNvPr id="21504" name="Line 0"/>
          <p:cNvSpPr>
            <a:spLocks noChangeShapeType="1"/>
          </p:cNvSpPr>
          <p:nvPr/>
        </p:nvSpPr>
        <p:spPr bwMode="auto">
          <a:xfrm flipH="1" flipV="1">
            <a:off x="431800" y="2565400"/>
            <a:ext cx="627380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956050" y="588963"/>
            <a:ext cx="646113" cy="3238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>
                <a:solidFill>
                  <a:srgbClr val="0000FF"/>
                </a:solidFill>
              </a:rPr>
              <a:t>США</a:t>
            </a:r>
          </a:p>
        </p:txBody>
      </p:sp>
      <p:sp>
        <p:nvSpPr>
          <p:cNvPr id="21507" name="Line 3"/>
          <p:cNvSpPr>
            <a:spLocks noChangeShapeType="1"/>
          </p:cNvSpPr>
          <p:nvPr/>
        </p:nvSpPr>
        <p:spPr bwMode="auto">
          <a:xfrm flipH="1" flipV="1">
            <a:off x="422275" y="4422775"/>
            <a:ext cx="6286500" cy="0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628650"/>
            <a:ext cx="379413" cy="311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>
                <a:solidFill>
                  <a:schemeClr val="accent2"/>
                </a:solidFill>
                <a:latin typeface="Tahoma" pitchFamily="34" charset="0"/>
              </a:rPr>
              <a:t>75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2382838"/>
            <a:ext cx="379413" cy="311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>
                <a:solidFill>
                  <a:schemeClr val="accent2"/>
                </a:solidFill>
                <a:latin typeface="Tahoma" pitchFamily="34" charset="0"/>
              </a:rPr>
              <a:t>50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0" y="4249738"/>
            <a:ext cx="379413" cy="311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>
                <a:solidFill>
                  <a:schemeClr val="accent2"/>
                </a:solidFill>
                <a:latin typeface="Tahoma" pitchFamily="34" charset="0"/>
              </a:rPr>
              <a:t>25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495300" y="4445000"/>
            <a:ext cx="6172200" cy="1714500"/>
          </a:xfrm>
          <a:prstGeom prst="rect">
            <a:avLst/>
          </a:prstGeom>
          <a:solidFill>
            <a:srgbClr val="66FF33">
              <a:alpha val="14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509588" y="2592388"/>
            <a:ext cx="6159500" cy="1816100"/>
          </a:xfrm>
          <a:prstGeom prst="rect">
            <a:avLst/>
          </a:prstGeom>
          <a:solidFill>
            <a:srgbClr val="33CCCC">
              <a:alpha val="14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498475" y="384175"/>
            <a:ext cx="6159500" cy="2171700"/>
          </a:xfrm>
          <a:prstGeom prst="rect">
            <a:avLst/>
          </a:prstGeom>
          <a:solidFill>
            <a:srgbClr val="000080">
              <a:alpha val="1000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7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4C361-7A6A-42F6-83BA-8C3B05A470A0}" type="slidenum">
              <a:rPr lang="ru-RU" altLang="ru-RU"/>
              <a:pPr/>
              <a:t>6</a:t>
            </a:fld>
            <a:endParaRPr lang="ru-RU" altLang="ru-RU"/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Доля городского населения в странах мира</a:t>
            </a:r>
          </a:p>
        </p:txBody>
      </p:sp>
      <p:graphicFrame>
        <p:nvGraphicFramePr>
          <p:cNvPr id="149585" name="Group 81"/>
          <p:cNvGraphicFramePr>
            <a:graphicFrameLocks noGrp="1"/>
          </p:cNvGraphicFramePr>
          <p:nvPr>
            <p:ph type="tbl" idx="1"/>
          </p:nvPr>
        </p:nvGraphicFramePr>
        <p:xfrm>
          <a:off x="1182688" y="2017713"/>
          <a:ext cx="7421562" cy="4580573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6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ru-RU" altLang="ru-RU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Великобритания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84,2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89,1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Германия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72,3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87,4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США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64,2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75,0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СССР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39,3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65,8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Россия</a:t>
                      </a: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43</a:t>
                      </a:r>
                      <a:r>
                        <a:rPr kumimoji="0" lang="ru-RU" alt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,</a:t>
                      </a:r>
                      <a:r>
                        <a:rPr kumimoji="0" lang="en-US" alt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</a:t>
                      </a:r>
                      <a:endParaRPr kumimoji="0" lang="ru-RU" altLang="ru-RU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73,9(2014-74,1)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Индия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17,3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27,0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Китай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33,4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Бразилия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36,0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74.9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7003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292</Words>
  <Application>Microsoft Office PowerPoint</Application>
  <PresentationFormat>Экран (4:3)</PresentationFormat>
  <Paragraphs>47</Paragraphs>
  <Slides>6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Tahoma</vt:lpstr>
      <vt:lpstr>Wingdings</vt:lpstr>
      <vt:lpstr>Тема Office</vt:lpstr>
      <vt:lpstr>Диаграмма</vt:lpstr>
      <vt:lpstr>Управление городскими агломерациями</vt:lpstr>
      <vt:lpstr>Урбанистика</vt:lpstr>
      <vt:lpstr>Доля городского населения в мире</vt:lpstr>
      <vt:lpstr>Рост доли городского населения в мире  (1950-2050)</vt:lpstr>
      <vt:lpstr> Динамика доли городского населения в  ХХ веке по некоторым странам, группам  стран и континентам</vt:lpstr>
      <vt:lpstr>Доля городского населения в странах мира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Городские агломерации</dc:title>
  <dc:creator>admin</dc:creator>
  <cp:lastModifiedBy>Андрей Лебедев</cp:lastModifiedBy>
  <cp:revision>32</cp:revision>
  <dcterms:created xsi:type="dcterms:W3CDTF">2016-07-20T17:51:18Z</dcterms:created>
  <dcterms:modified xsi:type="dcterms:W3CDTF">2026-02-18T10:25:41Z</dcterms:modified>
</cp:coreProperties>
</file>
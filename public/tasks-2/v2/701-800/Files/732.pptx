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9" r:id="rId2"/>
    <p:sldId id="271" r:id="rId3"/>
    <p:sldId id="270" r:id="rId4"/>
    <p:sldId id="262" r:id="rId5"/>
    <p:sldId id="267" r:id="rId6"/>
    <p:sldId id="264" r:id="rId7"/>
    <p:sldId id="272" r:id="rId8"/>
    <p:sldId id="273" r:id="rId9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Содержимое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Содержимое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6" name="Содержимое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Содержимое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1096963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5400" b="1" dirty="0">
                <a:solidFill>
                  <a:srgbClr val="9A0000"/>
                </a:solidFill>
              </a:rPr>
              <a:t>Энергия топлива.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5400" b="1" dirty="0">
                <a:solidFill>
                  <a:srgbClr val="9A0000"/>
                </a:solidFill>
              </a:rPr>
              <a:t>Удельная теплота сгорания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381000" y="4572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152400" y="228600"/>
            <a:ext cx="8763000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Чтобы согреть других, свеча должна сгореть.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400" b="1" dirty="0">
                <a:ea typeface="Times New Roman" pitchFamily="18" charset="0"/>
                <a:cs typeface="Times New Roman" pitchFamily="18" charset="0"/>
              </a:rPr>
              <a:t>			</a:t>
            </a:r>
            <a:r>
              <a:rPr kumimoji="0" lang="ru-RU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Майкл Фарадей</a:t>
            </a:r>
            <a:r>
              <a:rPr kumimoji="0" lang="ru-RU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ru-RU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3581400" y="4114800"/>
            <a:ext cx="5257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Урок  физики в 8 классе</a:t>
            </a:r>
          </a:p>
        </p:txBody>
      </p:sp>
      <p:pic>
        <p:nvPicPr>
          <p:cNvPr id="9" name="Picture 15" descr="https://ds04.infourok.ru/uploads/ex/0c80/000242e7-25687275/hello_html_2c548e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581400"/>
            <a:ext cx="2379311" cy="2771775"/>
          </a:xfrm>
          <a:prstGeom prst="rect">
            <a:avLst/>
          </a:prstGeom>
          <a:ln w="88900" cap="sq" cmpd="thickThin">
            <a:solidFill>
              <a:srgbClr val="6B2B17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8" descr="http://kenguru.ucoz.com/stati/avto/vid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4319587"/>
            <a:ext cx="2538413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9"/>
          <p:cNvSpPr txBox="1">
            <a:spLocks noGrp="1" noChangeArrowheads="1"/>
          </p:cNvSpPr>
          <p:nvPr>
            <p:ph sz="quarter" idx="1"/>
          </p:nvPr>
        </p:nvSpPr>
        <p:spPr bwMode="auto">
          <a:xfrm>
            <a:off x="304800" y="1447800"/>
            <a:ext cx="850392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Bef>
                <a:spcPct val="50000"/>
              </a:spcBef>
              <a:buNone/>
            </a:pPr>
            <a:r>
              <a:rPr lang="ru-RU" sz="2400" b="1" dirty="0">
                <a:solidFill>
                  <a:srgbClr val="660033"/>
                </a:solidFill>
                <a:cs typeface="Arial" charset="0"/>
              </a:rPr>
              <a:t>При горении топлива (угля, нефти, газа, сланцев) один атом углерода соединяется с двумя атомами кислорода - образуется молекула углекислого газа. </a:t>
            </a:r>
          </a:p>
          <a:p>
            <a:pPr>
              <a:spcBef>
                <a:spcPct val="50000"/>
              </a:spcBef>
            </a:pPr>
            <a:endParaRPr lang="ru-RU" sz="2000" b="1" dirty="0">
              <a:solidFill>
                <a:srgbClr val="660033"/>
              </a:solidFill>
              <a:cs typeface="Arial" charset="0"/>
            </a:endParaRPr>
          </a:p>
          <a:p>
            <a:pPr>
              <a:spcBef>
                <a:spcPct val="50000"/>
              </a:spcBef>
            </a:pPr>
            <a:endParaRPr lang="ru-RU" sz="2000" b="1" dirty="0">
              <a:solidFill>
                <a:srgbClr val="660033"/>
              </a:solidFill>
              <a:cs typeface="Arial" charset="0"/>
            </a:endParaRPr>
          </a:p>
          <a:p>
            <a:pPr>
              <a:spcBef>
                <a:spcPct val="50000"/>
              </a:spcBef>
            </a:pPr>
            <a:endParaRPr lang="ru-RU" sz="2000" b="1" dirty="0">
              <a:solidFill>
                <a:srgbClr val="660033"/>
              </a:solidFill>
              <a:cs typeface="Arial" charset="0"/>
            </a:endParaRPr>
          </a:p>
          <a:p>
            <a:pPr>
              <a:spcBef>
                <a:spcPct val="50000"/>
              </a:spcBef>
            </a:pPr>
            <a:endParaRPr lang="ru-RU" sz="2000" b="1" dirty="0">
              <a:solidFill>
                <a:srgbClr val="660033"/>
              </a:solidFill>
              <a:cs typeface="Arial" charset="0"/>
            </a:endParaRPr>
          </a:p>
          <a:p>
            <a:pPr>
              <a:spcBef>
                <a:spcPct val="50000"/>
              </a:spcBef>
              <a:buNone/>
            </a:pPr>
            <a:endParaRPr lang="ru-RU" sz="2000" b="1" dirty="0">
              <a:solidFill>
                <a:srgbClr val="660033"/>
              </a:solidFill>
              <a:cs typeface="Arial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2400" b="1" dirty="0">
              <a:solidFill>
                <a:srgbClr val="660033"/>
              </a:solidFill>
              <a:cs typeface="Arial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b="1" dirty="0">
                <a:solidFill>
                  <a:srgbClr val="660033"/>
                </a:solidFill>
                <a:cs typeface="Arial" charset="0"/>
              </a:rPr>
              <a:t>При образовании этой молекулы 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b="1" dirty="0">
                <a:solidFill>
                  <a:srgbClr val="660033"/>
                </a:solidFill>
                <a:cs typeface="Arial" charset="0"/>
              </a:rPr>
              <a:t>выделяется </a:t>
            </a:r>
            <a:r>
              <a:rPr lang="ru-RU" sz="2400" dirty="0">
                <a:solidFill>
                  <a:srgbClr val="660033"/>
                </a:solidFill>
                <a:cs typeface="Arial" charset="0"/>
              </a:rPr>
              <a:t> </a:t>
            </a:r>
            <a:r>
              <a:rPr lang="ru-RU" sz="2400" b="1" dirty="0">
                <a:solidFill>
                  <a:srgbClr val="660033"/>
                </a:solidFill>
                <a:cs typeface="Arial" charset="0"/>
              </a:rPr>
              <a:t>энергия.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400" dirty="0">
              <a:solidFill>
                <a:srgbClr val="660033"/>
              </a:solidFill>
            </a:endParaRPr>
          </a:p>
        </p:txBody>
      </p:sp>
      <p:sp>
        <p:nvSpPr>
          <p:cNvPr id="6" name="Блок-схема: узел 5"/>
          <p:cNvSpPr/>
          <p:nvPr/>
        </p:nvSpPr>
        <p:spPr>
          <a:xfrm>
            <a:off x="2667000" y="3886200"/>
            <a:ext cx="685800" cy="685800"/>
          </a:xfrm>
          <a:prstGeom prst="flowChartConnector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лок-схема: узел 6"/>
          <p:cNvSpPr/>
          <p:nvPr/>
        </p:nvSpPr>
        <p:spPr>
          <a:xfrm>
            <a:off x="1295400" y="3048000"/>
            <a:ext cx="1066800" cy="114300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 w="1270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лок-схема: узел 7"/>
          <p:cNvSpPr/>
          <p:nvPr/>
        </p:nvSpPr>
        <p:spPr>
          <a:xfrm>
            <a:off x="2667000" y="2971800"/>
            <a:ext cx="685800" cy="685800"/>
          </a:xfrm>
          <a:prstGeom prst="flowChartConnector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с вырезом 8"/>
          <p:cNvSpPr/>
          <p:nvPr/>
        </p:nvSpPr>
        <p:spPr>
          <a:xfrm>
            <a:off x="3733800" y="3505200"/>
            <a:ext cx="1905000" cy="685800"/>
          </a:xfrm>
          <a:prstGeom prst="notched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лок-схема: узел 10"/>
          <p:cNvSpPr/>
          <p:nvPr/>
        </p:nvSpPr>
        <p:spPr>
          <a:xfrm>
            <a:off x="5791200" y="4419600"/>
            <a:ext cx="685800" cy="685800"/>
          </a:xfrm>
          <a:prstGeom prst="flowChartConnector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Блок-схема: узел 11"/>
          <p:cNvSpPr/>
          <p:nvPr/>
        </p:nvSpPr>
        <p:spPr>
          <a:xfrm>
            <a:off x="6858000" y="3581400"/>
            <a:ext cx="685800" cy="685800"/>
          </a:xfrm>
          <a:prstGeom prst="flowChartConnector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лок-схема: узел 12"/>
          <p:cNvSpPr/>
          <p:nvPr/>
        </p:nvSpPr>
        <p:spPr>
          <a:xfrm>
            <a:off x="5791200" y="3352800"/>
            <a:ext cx="1066800" cy="114300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 w="1270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1524000" y="3200400"/>
            <a:ext cx="533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4000" b="1" dirty="0">
                <a:solidFill>
                  <a:schemeClr val="bg1"/>
                </a:solidFill>
              </a:rPr>
              <a:t>С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2743200" y="2895600"/>
            <a:ext cx="533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4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2743200" y="3886200"/>
            <a:ext cx="533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4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791200" y="3581400"/>
            <a:ext cx="1752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3600" b="1" dirty="0">
                <a:solidFill>
                  <a:schemeClr val="bg1"/>
                </a:solidFill>
              </a:rPr>
              <a:t>СО2</a:t>
            </a:r>
          </a:p>
        </p:txBody>
      </p:sp>
      <p:pic>
        <p:nvPicPr>
          <p:cNvPr id="21" name="Picture 4" descr="http://www.stihi.ru/pics/2016/10/20/49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4267200"/>
            <a:ext cx="1974235" cy="1233897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>
          <a:xfrm>
            <a:off x="304800" y="304800"/>
            <a:ext cx="8534400" cy="5232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tx1"/>
                </a:solidFill>
                <a:latin typeface="+mj-lt"/>
              </a:rPr>
              <a:t>Физическое содержание процесса горения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371600"/>
            <a:ext cx="8534400" cy="15240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br>
              <a:rPr lang="ru-RU" sz="3200" b="1" dirty="0"/>
            </a:br>
            <a:br>
              <a:rPr lang="ru-RU" sz="3200" b="1" dirty="0"/>
            </a:br>
            <a:br>
              <a:rPr lang="ru-RU" sz="3200" b="1" dirty="0"/>
            </a:br>
            <a:br>
              <a:rPr lang="ru-RU" sz="3200" b="1" dirty="0"/>
            </a:br>
            <a:br>
              <a:rPr lang="ru-RU" sz="3200" b="1" dirty="0"/>
            </a:br>
            <a:r>
              <a:rPr lang="ru-RU" sz="3200" b="1" dirty="0"/>
              <a:t>За счёт чего при горении выделяется энергия?</a:t>
            </a:r>
            <a:br>
              <a:rPr lang="ru-RU" sz="3200" b="1" dirty="0"/>
            </a:br>
            <a:endParaRPr lang="ru-RU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286000" y="228600"/>
            <a:ext cx="6629400" cy="75895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ru-RU" sz="3600" b="1" dirty="0">
                <a:solidFill>
                  <a:schemeClr val="tx1"/>
                </a:solidFill>
              </a:rPr>
              <a:t>Что такое топливо?</a:t>
            </a:r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381000" y="1371600"/>
            <a:ext cx="8458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cs typeface="Arial" charset="0"/>
              </a:rPr>
              <a:t>Топливо – </a:t>
            </a:r>
            <a:r>
              <a:rPr lang="ru-RU" sz="2400" dirty="0">
                <a:cs typeface="Arial" charset="0"/>
              </a:rPr>
              <a:t>вещества с высоким содержанием углерода:  уголь, нефть, торф, природный газ, дрова и др., при сгорании которых выделяется большое количество энергии. </a:t>
            </a:r>
          </a:p>
        </p:txBody>
      </p:sp>
      <p:pic>
        <p:nvPicPr>
          <p:cNvPr id="4" name="Picture 2" descr="https://im0-tub-ru.yandex.net/i?id=ffa557f6f1596a2b10adbf185bcf8278&amp;n=33&amp;h=215&amp;w=3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28600"/>
            <a:ext cx="2057400" cy="1143000"/>
          </a:xfrm>
          <a:prstGeom prst="rect">
            <a:avLst/>
          </a:prstGeom>
          <a:noFill/>
          <a:ln>
            <a:solidFill>
              <a:srgbClr val="6B2B17"/>
            </a:solidFill>
          </a:ln>
        </p:spPr>
      </p:pic>
      <p:cxnSp>
        <p:nvCxnSpPr>
          <p:cNvPr id="9" name="Прямая со стрелкой 8"/>
          <p:cNvCxnSpPr/>
          <p:nvPr/>
        </p:nvCxnSpPr>
        <p:spPr>
          <a:xfrm rot="5400000">
            <a:off x="2057400" y="3048000"/>
            <a:ext cx="457200" cy="45720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rot="16200000" flipH="1">
            <a:off x="4590256" y="3334544"/>
            <a:ext cx="457200" cy="36512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6200000" flipH="1">
            <a:off x="6896100" y="3086100"/>
            <a:ext cx="533400" cy="45720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38400" y="2590800"/>
            <a:ext cx="46482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1" dirty="0"/>
              <a:t>По агрегатному состоянию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581400"/>
            <a:ext cx="26670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Твердое</a:t>
            </a:r>
          </a:p>
          <a:p>
            <a:pPr algn="ctr"/>
            <a:r>
              <a:rPr lang="ru-RU" sz="2400" dirty="0"/>
              <a:t> (уголь, торф, древесина, сланцы)</a:t>
            </a:r>
            <a:endParaRPr lang="ru-RU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228600" y="3505200"/>
            <a:ext cx="2667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Жидкое </a:t>
            </a:r>
          </a:p>
          <a:p>
            <a:pPr algn="ctr"/>
            <a:r>
              <a:rPr lang="ru-RU" sz="2400" dirty="0"/>
              <a:t> (нефть и нефтепродукты)</a:t>
            </a:r>
            <a:endParaRPr lang="ru-RU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276600" y="3581401"/>
            <a:ext cx="2667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Газообразное  (природный газ)</a:t>
            </a:r>
            <a:endParaRPr lang="ru-RU" sz="2400" b="1" dirty="0"/>
          </a:p>
          <a:p>
            <a:pPr algn="ctr"/>
            <a:endParaRPr lang="ru-RU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28600" y="4876800"/>
            <a:ext cx="35052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1" dirty="0"/>
              <a:t>По происхождению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1200" y="5410200"/>
            <a:ext cx="69342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природное (древесина, солома, торф, бурый и каменный уголь, антрацит, горючие сланцы, нефть, природный газ)</a:t>
            </a:r>
            <a:endParaRPr lang="ru-RU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2133600" y="5562600"/>
            <a:ext cx="69342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искусственное (кокс, торфяные брикеты, моторные топлива и </a:t>
            </a:r>
            <a:r>
              <a:rPr lang="ru-RU" sz="2400" dirty="0" err="1"/>
              <a:t>др</a:t>
            </a:r>
            <a:r>
              <a:rPr lang="ru-RU" sz="2400" dirty="0"/>
              <a:t>)</a:t>
            </a:r>
          </a:p>
          <a:p>
            <a:pPr algn="ctr"/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1"/>
                </a:solidFill>
                <a:latin typeface="+mj-lt"/>
              </a:rPr>
              <a:t>Где используется топливо?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6022848" cy="4572000"/>
          </a:xfrm>
        </p:spPr>
        <p:txBody>
          <a:bodyPr>
            <a:normAutofit/>
          </a:bodyPr>
          <a:lstStyle/>
          <a:p>
            <a:r>
              <a:rPr lang="ru-RU" sz="2800" b="1" dirty="0"/>
              <a:t>Транспорт</a:t>
            </a:r>
          </a:p>
          <a:p>
            <a:pPr>
              <a:buNone/>
            </a:pPr>
            <a:endParaRPr lang="ru-RU" sz="2800" b="1" dirty="0"/>
          </a:p>
          <a:p>
            <a:r>
              <a:rPr lang="ru-RU" sz="2800" b="1" dirty="0"/>
              <a:t>Промышленность</a:t>
            </a:r>
          </a:p>
          <a:p>
            <a:pPr>
              <a:buNone/>
            </a:pPr>
            <a:endParaRPr lang="ru-RU" sz="2800" b="1" dirty="0"/>
          </a:p>
          <a:p>
            <a:r>
              <a:rPr lang="ru-RU" sz="2800" b="1" dirty="0"/>
              <a:t>Сельское хозяйство</a:t>
            </a:r>
          </a:p>
          <a:p>
            <a:pPr>
              <a:buNone/>
            </a:pPr>
            <a:endParaRPr lang="ru-RU" sz="2800" b="1" dirty="0"/>
          </a:p>
          <a:p>
            <a:r>
              <a:rPr lang="ru-RU" sz="2800" b="1" dirty="0"/>
              <a:t>Быт</a:t>
            </a:r>
            <a:endParaRPr lang="ru-RU" sz="3600" b="1" dirty="0"/>
          </a:p>
          <a:p>
            <a:endParaRPr lang="ru-RU" dirty="0"/>
          </a:p>
        </p:txBody>
      </p:sp>
      <p:pic>
        <p:nvPicPr>
          <p:cNvPr id="10" name="Picture 4" descr="http://www.setwalls.ru/download.php?file=201304/1440x900/setwalls.ru-14418.jpg"/>
          <p:cNvPicPr>
            <a:picLocks noChangeAspect="1" noChangeArrowheads="1"/>
          </p:cNvPicPr>
          <p:nvPr/>
        </p:nvPicPr>
        <p:blipFill>
          <a:blip r:embed="rId2" cstate="print"/>
          <a:srcRect b="78"/>
          <a:stretch>
            <a:fillRect/>
          </a:stretch>
        </p:blipFill>
        <p:spPr bwMode="auto">
          <a:xfrm>
            <a:off x="2438400" y="4267200"/>
            <a:ext cx="3020619" cy="18907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pic>
        <p:nvPicPr>
          <p:cNvPr id="11" name="Picture 4" descr="http://www.wallpapersfree.ru/data/8150-1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4267200"/>
            <a:ext cx="2966912" cy="1854194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dist="38100" dir="2700000" algn="tl" rotWithShape="0">
              <a:srgbClr val="000000">
                <a:alpha val="42999"/>
              </a:srgbClr>
            </a:outerShdw>
          </a:effectLst>
        </p:spPr>
      </p:pic>
      <p:pic>
        <p:nvPicPr>
          <p:cNvPr id="12" name="Picture 2" descr="https://im0-tub-ru.yandex.net/i?id=ffa557f6f1596a2b10adbf185bcf8278&amp;n=33&amp;h=215&amp;w=32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91200" y="1905000"/>
            <a:ext cx="2943757" cy="1971676"/>
          </a:xfrm>
          <a:prstGeom prst="rect">
            <a:avLst/>
          </a:prstGeom>
          <a:noFill/>
          <a:ln>
            <a:solidFill>
              <a:srgbClr val="6B2B17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7159752" cy="75895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ru-RU" sz="4400" b="1" dirty="0">
                <a:solidFill>
                  <a:schemeClr val="tx1"/>
                </a:solidFill>
              </a:rPr>
              <a:t>Обратите внимание!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4800" y="1828800"/>
            <a:ext cx="8503920" cy="4572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2400" b="1" dirty="0"/>
              <a:t>При сгорании топлива потребляется кислород, содержащийся в атмосферном воздухе.</a:t>
            </a:r>
          </a:p>
          <a:p>
            <a:pPr marL="0" indent="0" algn="just">
              <a:buNone/>
            </a:pPr>
            <a:r>
              <a:rPr lang="ru-RU" sz="2400" b="1" dirty="0"/>
              <a:t>Выделяется  вредный углекислый газ.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C00000"/>
                </a:solidFill>
              </a:rPr>
              <a:t>Использование топлива наносит ущерб окружающей среде!!!</a:t>
            </a:r>
          </a:p>
          <a:p>
            <a:pPr algn="just">
              <a:buNone/>
            </a:pPr>
            <a:r>
              <a:rPr lang="ru-RU" sz="2400" b="1" dirty="0"/>
              <a:t>   Подумайте, как можно его уменьшить?</a:t>
            </a:r>
          </a:p>
          <a:p>
            <a:pPr algn="just">
              <a:buNone/>
            </a:pPr>
            <a:endParaRPr lang="ru-RU" sz="2400" dirty="0"/>
          </a:p>
        </p:txBody>
      </p:sp>
      <p:pic>
        <p:nvPicPr>
          <p:cNvPr id="4" name="Picture 5" descr="https://thumbs.dreamstime.com/z/%D0%B2%D1%8B%D0%BF%D1%83%D1%81%D0%BA%D0%BD%D0%B8%D0%BA-34915357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"/>
          <a:stretch>
            <a:fillRect/>
          </a:stretch>
        </p:blipFill>
        <p:spPr bwMode="auto">
          <a:xfrm>
            <a:off x="-304800" y="-95956"/>
            <a:ext cx="2286000" cy="228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://www.setwalls.ru/download.php?file=201304/1440x900/setwalls.ru-14418.jpg"/>
          <p:cNvPicPr>
            <a:picLocks noChangeAspect="1" noChangeArrowheads="1"/>
          </p:cNvPicPr>
          <p:nvPr/>
        </p:nvPicPr>
        <p:blipFill>
          <a:blip r:embed="rId3" cstate="print"/>
          <a:srcRect b="78"/>
          <a:stretch>
            <a:fillRect/>
          </a:stretch>
        </p:blipFill>
        <p:spPr bwMode="auto">
          <a:xfrm>
            <a:off x="533400" y="4267200"/>
            <a:ext cx="3020619" cy="18907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pic>
        <p:nvPicPr>
          <p:cNvPr id="6" name="Picture 2" descr="https://im0-tub-ru.yandex.net/i?id=ffa557f6f1596a2b10adbf185bcf8278&amp;n=33&amp;h=215&amp;w=32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91200" y="4267200"/>
            <a:ext cx="2943757" cy="1971676"/>
          </a:xfrm>
          <a:prstGeom prst="rect">
            <a:avLst/>
          </a:prstGeom>
          <a:noFill/>
          <a:ln>
            <a:solidFill>
              <a:srgbClr val="6B2B17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7"/>
          <p:cNvSpPr txBox="1">
            <a:spLocks noChangeArrowheads="1"/>
          </p:cNvSpPr>
          <p:nvPr/>
        </p:nvSpPr>
        <p:spPr bwMode="auto">
          <a:xfrm>
            <a:off x="539750" y="5086350"/>
            <a:ext cx="8569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1800"/>
          </a:p>
        </p:txBody>
      </p:sp>
      <p:sp>
        <p:nvSpPr>
          <p:cNvPr id="71" name="TextBox 70"/>
          <p:cNvSpPr txBox="1"/>
          <p:nvPr/>
        </p:nvSpPr>
        <p:spPr>
          <a:xfrm flipH="1">
            <a:off x="457200" y="228600"/>
            <a:ext cx="8305797" cy="9541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chemeClr val="tx1"/>
                </a:solidFill>
                <a:latin typeface="+mj-lt"/>
              </a:rPr>
              <a:t>Количество теплоты </a:t>
            </a:r>
            <a:r>
              <a:rPr lang="en-US" sz="2800" b="1" dirty="0">
                <a:solidFill>
                  <a:schemeClr val="tx1"/>
                </a:solidFill>
                <a:latin typeface="+mj-lt"/>
              </a:rPr>
              <a:t>Q</a:t>
            </a:r>
            <a:r>
              <a:rPr lang="ru-RU" sz="2800" b="1" dirty="0">
                <a:solidFill>
                  <a:schemeClr val="tx1"/>
                </a:solidFill>
                <a:latin typeface="+mj-lt"/>
              </a:rPr>
              <a:t>, выделяющееся при   сгорании   топлива</a:t>
            </a:r>
          </a:p>
        </p:txBody>
      </p:sp>
      <p:sp>
        <p:nvSpPr>
          <p:cNvPr id="11311" name="TextBox 71"/>
          <p:cNvSpPr txBox="1">
            <a:spLocks noChangeArrowheads="1"/>
          </p:cNvSpPr>
          <p:nvPr/>
        </p:nvSpPr>
        <p:spPr bwMode="auto">
          <a:xfrm>
            <a:off x="381000" y="4114800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b="1" dirty="0"/>
              <a:t>где    </a:t>
            </a:r>
            <a:r>
              <a:rPr lang="en-US" sz="2400" b="1" dirty="0"/>
              <a:t>q  -  </a:t>
            </a:r>
            <a:r>
              <a:rPr lang="ru-RU" sz="2400" b="1" dirty="0"/>
              <a:t>удельная теплота сгорания</a:t>
            </a:r>
            <a:r>
              <a:rPr lang="en-US" sz="2400" b="1" dirty="0"/>
              <a:t> </a:t>
            </a:r>
            <a:r>
              <a:rPr lang="ru-RU" sz="2400" b="1" dirty="0"/>
              <a:t>топлива,</a:t>
            </a:r>
          </a:p>
          <a:p>
            <a:r>
              <a:rPr lang="ru-RU" sz="2400" b="1"/>
              <a:t>           </a:t>
            </a:r>
            <a:r>
              <a:rPr lang="en-US" sz="2400" b="1"/>
              <a:t>m </a:t>
            </a:r>
            <a:r>
              <a:rPr lang="en-US" sz="2400" b="1" dirty="0"/>
              <a:t>– </a:t>
            </a:r>
            <a:r>
              <a:rPr lang="ru-RU" sz="2400" b="1" dirty="0"/>
              <a:t>масса вещества.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47800" y="1981200"/>
            <a:ext cx="6324599" cy="1446550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 =</a:t>
            </a:r>
            <a:r>
              <a:rPr lang="en-US" sz="8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q∙m</a:t>
            </a:r>
            <a:endParaRPr lang="ru-RU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1187624" y="548681"/>
            <a:ext cx="7776863" cy="1584175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None/>
            </a:pPr>
            <a:r>
              <a:rPr lang="ru-RU" dirty="0"/>
              <a:t>   </a:t>
            </a:r>
            <a:r>
              <a:rPr lang="ru-RU" sz="4000" b="1" dirty="0">
                <a:solidFill>
                  <a:schemeClr val="tx2"/>
                </a:solidFill>
                <a:latin typeface="Times New Roman" pitchFamily="18" charset="0"/>
              </a:rPr>
              <a:t>Какое количество теплоты выделится при полном сгорании: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367137" y="3573016"/>
            <a:ext cx="7776863" cy="7200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ru-RU" sz="4000" b="1" dirty="0">
                <a:solidFill>
                  <a:schemeClr val="tx2"/>
                </a:solidFill>
                <a:latin typeface="Times New Roman" pitchFamily="18" charset="0"/>
              </a:rPr>
              <a:t>3 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кг бензина?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367137" y="4365104"/>
            <a:ext cx="6301207" cy="7200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ru-RU" sz="4000" b="1" dirty="0">
                <a:solidFill>
                  <a:schemeClr val="tx2"/>
                </a:solidFill>
                <a:latin typeface="Times New Roman" pitchFamily="18" charset="0"/>
              </a:rPr>
              <a:t>7,5 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кг природного газа? 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367137" y="1988840"/>
            <a:ext cx="7776863" cy="7200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indent="-283464" fontAlgn="auto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</a:pPr>
            <a:r>
              <a:rPr lang="ru-RU" sz="4000" b="1" dirty="0">
                <a:solidFill>
                  <a:schemeClr val="tx2"/>
                </a:solidFill>
                <a:latin typeface="Times New Roman" pitchFamily="18" charset="0"/>
              </a:rPr>
              <a:t>1 кг древесного угля?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367137" y="2780928"/>
            <a:ext cx="7776863" cy="7200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ru-RU" sz="4000" b="1" dirty="0">
                <a:solidFill>
                  <a:schemeClr val="tx2"/>
                </a:solidFill>
                <a:latin typeface="Times New Roman" pitchFamily="18" charset="0"/>
              </a:rPr>
              <a:t>4 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кг нефти?</a:t>
            </a:r>
          </a:p>
        </p:txBody>
      </p:sp>
    </p:spTree>
    <p:extLst>
      <p:ext uri="{BB962C8B-B14F-4D97-AF65-F5344CB8AC3E}">
        <p14:creationId xmlns:p14="http://schemas.microsoft.com/office/powerpoint/2010/main" val="13097884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  <p:bldP spid="6" grpId="0" build="p"/>
      <p:bldP spid="7" grpId="0" build="p"/>
      <p:bldP spid="8" grpId="0" build="p"/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88640"/>
            <a:ext cx="7962088" cy="9361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ru-RU" dirty="0"/>
              <a:t>   </a:t>
            </a:r>
            <a:r>
              <a:rPr lang="ru-RU" sz="4400" b="1" dirty="0">
                <a:solidFill>
                  <a:schemeClr val="tx2"/>
                </a:solidFill>
                <a:latin typeface="Times New Roman" pitchFamily="18" charset="0"/>
              </a:rPr>
              <a:t>Какое топливо используется: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325928" y="3212976"/>
            <a:ext cx="7818072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в) В котлах электростанций?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325928" y="980728"/>
            <a:ext cx="6990488" cy="9361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а) Для отопления домов?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331640" y="1772816"/>
            <a:ext cx="7632848" cy="13681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ru-RU" sz="4400" b="1" dirty="0">
                <a:solidFill>
                  <a:schemeClr val="tx2"/>
                </a:solidFill>
                <a:latin typeface="Times New Roman" pitchFamily="18" charset="0"/>
              </a:rPr>
              <a:t>б) В двигателях 	автомобилей?</a:t>
            </a:r>
          </a:p>
        </p:txBody>
      </p:sp>
    </p:spTree>
    <p:extLst>
      <p:ext uri="{BB962C8B-B14F-4D97-AF65-F5344CB8AC3E}">
        <p14:creationId xmlns:p14="http://schemas.microsoft.com/office/powerpoint/2010/main" val="361910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  <p:bldP spid="6" grpId="0"/>
      <p:bldP spid="7" grpId="0"/>
      <p:bldP spid="8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214</TotalTime>
  <Words>297</Words>
  <Application>Microsoft Office PowerPoint</Application>
  <PresentationFormat>Экран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Georgia</vt:lpstr>
      <vt:lpstr>Times New Roman</vt:lpstr>
      <vt:lpstr>Wingdings</vt:lpstr>
      <vt:lpstr>Wingdings 2</vt:lpstr>
      <vt:lpstr>Официальная</vt:lpstr>
      <vt:lpstr>Презентация PowerPoint</vt:lpstr>
      <vt:lpstr>     За счёт чего при горении выделяется энергия? </vt:lpstr>
      <vt:lpstr>Что такое топливо?</vt:lpstr>
      <vt:lpstr>Где используется топливо?</vt:lpstr>
      <vt:lpstr>Обратите внимание!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Уроки физики в 8 классе</dc:title>
  <dc:creator>ИРИНА</dc:creator>
  <cp:lastModifiedBy>Андрей Лебедев</cp:lastModifiedBy>
  <cp:revision>46</cp:revision>
  <dcterms:created xsi:type="dcterms:W3CDTF">2011-10-03T17:50:21Z</dcterms:created>
  <dcterms:modified xsi:type="dcterms:W3CDTF">2026-01-12T16:13:13Z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298423</vt:lpwstr>
  </property>
  <property fmtid="{D5CDD505-2E9C-101B-9397-08002B2CF9AE}" pid="3" name="NXPowerLiteSettings">
    <vt:lpwstr>F6000400038000</vt:lpwstr>
  </property>
  <property fmtid="{D5CDD505-2E9C-101B-9397-08002B2CF9AE}" pid="4" name="NXPowerLiteVersion">
    <vt:lpwstr>D4.3.1</vt:lpwstr>
  </property>
</Properties>
</file>
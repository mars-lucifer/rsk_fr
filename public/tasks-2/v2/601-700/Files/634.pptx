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0" name="Group 2">
            <a:extLst>
              <a:ext uri="{FF2B5EF4-FFF2-40B4-BE49-F238E27FC236}">
                <a16:creationId xmlns:a16="http://schemas.microsoft.com/office/drawing/2014/main" id="{245BEFBA-9B35-A840-AF6F-ECAED5AEDD1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99331" name="Rectangle 3">
              <a:extLst>
                <a:ext uri="{FF2B5EF4-FFF2-40B4-BE49-F238E27FC236}">
                  <a16:creationId xmlns:a16="http://schemas.microsoft.com/office/drawing/2014/main" id="{C0493772-0AF5-E230-B70E-5124AB70B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99332" name="AutoShape 4">
              <a:extLst>
                <a:ext uri="{FF2B5EF4-FFF2-40B4-BE49-F238E27FC236}">
                  <a16:creationId xmlns:a16="http://schemas.microsoft.com/office/drawing/2014/main" id="{2BFF0160-F746-6E84-AFEA-82825A18889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ru-RU" altLang="ru-RU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9333" name="Group 5">
            <a:extLst>
              <a:ext uri="{FF2B5EF4-FFF2-40B4-BE49-F238E27FC236}">
                <a16:creationId xmlns:a16="http://schemas.microsoft.com/office/drawing/2014/main" id="{79B149D7-B826-A62C-0308-6BE4B17BCC23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99334" name="AutoShape 6">
              <a:extLst>
                <a:ext uri="{FF2B5EF4-FFF2-40B4-BE49-F238E27FC236}">
                  <a16:creationId xmlns:a16="http://schemas.microsoft.com/office/drawing/2014/main" id="{3895BF61-53A7-6821-D805-1B4942DC84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99335" name="AutoShape 7">
              <a:extLst>
                <a:ext uri="{FF2B5EF4-FFF2-40B4-BE49-F238E27FC236}">
                  <a16:creationId xmlns:a16="http://schemas.microsoft.com/office/drawing/2014/main" id="{48893F52-FF68-1063-D24C-0D73B26FF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99336" name="Rectangle 8">
            <a:extLst>
              <a:ext uri="{FF2B5EF4-FFF2-40B4-BE49-F238E27FC236}">
                <a16:creationId xmlns:a16="http://schemas.microsoft.com/office/drawing/2014/main" id="{A0B8C0BB-FBFF-00AA-843D-1105CA269D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99337" name="Rectangle 9">
            <a:extLst>
              <a:ext uri="{FF2B5EF4-FFF2-40B4-BE49-F238E27FC236}">
                <a16:creationId xmlns:a16="http://schemas.microsoft.com/office/drawing/2014/main" id="{6CE5EE77-B3A1-12C8-D5E2-D8A7969452D4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 altLang="ru-RU"/>
          </a:p>
        </p:txBody>
      </p:sp>
      <p:sp>
        <p:nvSpPr>
          <p:cNvPr id="99338" name="Rectangle 10">
            <a:extLst>
              <a:ext uri="{FF2B5EF4-FFF2-40B4-BE49-F238E27FC236}">
                <a16:creationId xmlns:a16="http://schemas.microsoft.com/office/drawing/2014/main" id="{02D4C3F2-F4B2-BA95-24F5-76241B8CD9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 altLang="ru-RU"/>
          </a:p>
        </p:txBody>
      </p:sp>
      <p:sp>
        <p:nvSpPr>
          <p:cNvPr id="99339" name="Rectangle 11">
            <a:extLst>
              <a:ext uri="{FF2B5EF4-FFF2-40B4-BE49-F238E27FC236}">
                <a16:creationId xmlns:a16="http://schemas.microsoft.com/office/drawing/2014/main" id="{BAEFEDE2-BD49-1E04-DEC8-FE5D557AC3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0EB68D8A-21F4-4059-93AC-2A29507DE1C8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99340" name="AutoShape 12">
            <a:extLst>
              <a:ext uri="{FF2B5EF4-FFF2-40B4-BE49-F238E27FC236}">
                <a16:creationId xmlns:a16="http://schemas.microsoft.com/office/drawing/2014/main" id="{69D214AC-0B0F-CC0F-0245-5E71917E6E1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85CC3-0AC2-009B-6D09-8035CD65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946C1-D4EF-4712-4AA5-C8D1FAC3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AF1761-9E52-7E5B-4418-F4B9BEF7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207675-A5EC-3F48-0699-E58FC339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6E87EF-539C-3AB7-DBFC-550A4095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805A9-FDDA-4AC6-924A-32A3323C5EE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300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98C92F-D037-5C18-6AAC-E4C2EE53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283E65-839D-1C49-C429-D05440F5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81B942-116E-F15E-9FED-F5A0D02F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2A2627-8286-A701-D2F3-9C0129E8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FBAC92-CF76-C221-B484-81A23E0B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8113D-2EBA-4274-AD50-A0D72BD0876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8960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37905-F746-85FD-60F8-DE9C56CF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964691-5825-7778-0125-9DCB63B04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5F347D-BF6A-FD12-5ADA-26D39B058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B8F808-A763-26C5-DA73-B3D6453A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0977EB-71FB-D9D2-C9CF-706B553E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D1CC71-E093-80F3-EDB3-9DF7BAF1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B2D72-B33D-4D8B-96B4-574814549C9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9951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21E6-6A89-0F42-FFCA-0A98952A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FF22A6-801B-4605-0F2E-18D0DCFF1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278CEC-4BE1-B600-C357-E0698C1AE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6E64DB-3330-E6A6-F574-6161B35F5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E1CDEF-94CD-747B-35EC-FF8EA155F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52ED53-4AD2-10A9-8726-94F10ADE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75CBD7-5D62-2416-07DE-33153714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759068-EE7C-E4F0-7579-1489521B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3014E-6BB3-4F06-9BA8-58E305C1070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8635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5D29A-A9B3-2F23-E011-0C588F6E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EC2AD4-5F2A-C3D1-A4F3-134FFA88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4ED9F3-4BB6-3EF7-9681-862D3528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B8DD1F-062F-A0C0-7AC3-4A64B89F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05FCA-A5E3-48B0-8762-5826B6018C3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9877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93EB799-7A3A-3452-EFBB-52937542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6CC2D2-53C5-A8F2-CF78-D241F181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999618-FBC6-C779-65C7-0A58066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834CD-B0D1-4726-AEB5-CC0ED9C5DB6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6125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87104-0D5E-8EF2-EEA2-A2369275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75719E-B5E9-677A-9912-CDB468E96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07E9F1-ABA2-382C-7BB9-A5CECEB94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CA6EF0-DCED-E764-9593-B5342504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736697-BB8E-717F-2638-86696A953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ECDA9C-A3B2-5981-B8C4-B414A14E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F47DC-D41C-49D2-973B-3937FE9BF41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5549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A26F4-D7B7-9687-911A-AB80202D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101A0E-F2A5-6F2F-51B6-4436D541D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7936B4-758D-2531-F394-097E3D17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87114A-42BD-70E4-AC4D-7ECF4511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884702-D43D-0B42-3BDE-8A66B612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5338D6-B3EB-9A4C-BAAE-3E1526E0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31674-DB5B-4371-96DC-2DF3E99B53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0599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5F394-E46E-4FBA-F3F8-33BB9270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3C6E34-D7DF-E7EF-1777-DD3E0886A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30C305-B627-F4C2-7A29-4868984C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9113B-84DF-FD44-872C-B2268F6A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424FE9-7AC2-5F64-CBC0-A25C0509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3B7FA5-15D7-4345-A552-44E4CEB5064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4198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D85876-DFD9-E575-32D7-37694BCB5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F2B503-4F52-D7D7-CD68-35692D058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8DC54E-5775-D493-0E8B-0DE68F39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B51753-69B6-32E2-F8DA-48D0ECA6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C8D44C-76CD-954C-E797-68E89C3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C8CB3-7022-45D8-AFDD-7246762FDD6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3126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6" name="Group 2">
            <a:extLst>
              <a:ext uri="{FF2B5EF4-FFF2-40B4-BE49-F238E27FC236}">
                <a16:creationId xmlns:a16="http://schemas.microsoft.com/office/drawing/2014/main" id="{F6E9CF0C-8DB2-A688-2CC7-6650EF87020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98307" name="Group 3">
              <a:extLst>
                <a:ext uri="{FF2B5EF4-FFF2-40B4-BE49-F238E27FC236}">
                  <a16:creationId xmlns:a16="http://schemas.microsoft.com/office/drawing/2014/main" id="{3BEB3549-036B-D828-6989-03E1AC7846A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98308" name="Rectangle 4">
                <a:extLst>
                  <a:ext uri="{FF2B5EF4-FFF2-40B4-BE49-F238E27FC236}">
                    <a16:creationId xmlns:a16="http://schemas.microsoft.com/office/drawing/2014/main" id="{C6A1450E-00C6-039E-A642-66128E746C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98309" name="Freeform 5">
                <a:extLst>
                  <a:ext uri="{FF2B5EF4-FFF2-40B4-BE49-F238E27FC236}">
                    <a16:creationId xmlns:a16="http://schemas.microsoft.com/office/drawing/2014/main" id="{A75688C3-283A-E9AF-1C99-F7835C6EA3E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</p:grpSp>
        <p:grpSp>
          <p:nvGrpSpPr>
            <p:cNvPr id="98310" name="Group 6">
              <a:extLst>
                <a:ext uri="{FF2B5EF4-FFF2-40B4-BE49-F238E27FC236}">
                  <a16:creationId xmlns:a16="http://schemas.microsoft.com/office/drawing/2014/main" id="{8804F7E1-2074-DB40-0C1F-99242A753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98311" name="AutoShape 7">
                <a:extLst>
                  <a:ext uri="{FF2B5EF4-FFF2-40B4-BE49-F238E27FC236}">
                    <a16:creationId xmlns:a16="http://schemas.microsoft.com/office/drawing/2014/main" id="{05FD096C-F2C0-6372-953A-AED902A97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98312" name="AutoShape 8">
                <a:extLst>
                  <a:ext uri="{FF2B5EF4-FFF2-40B4-BE49-F238E27FC236}">
                    <a16:creationId xmlns:a16="http://schemas.microsoft.com/office/drawing/2014/main" id="{3C1CAA06-1599-CAA9-6570-6367A24D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</p:grpSp>
      <p:sp>
        <p:nvSpPr>
          <p:cNvPr id="98313" name="AutoShape 9">
            <a:extLst>
              <a:ext uri="{FF2B5EF4-FFF2-40B4-BE49-F238E27FC236}">
                <a16:creationId xmlns:a16="http://schemas.microsoft.com/office/drawing/2014/main" id="{78FA82A9-D0B0-C108-317B-B505C28A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98314" name="Rectangle 10">
            <a:extLst>
              <a:ext uri="{FF2B5EF4-FFF2-40B4-BE49-F238E27FC236}">
                <a16:creationId xmlns:a16="http://schemas.microsoft.com/office/drawing/2014/main" id="{59F58375-6DED-06E2-B77E-0F2EA1239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8315" name="Rectangle 11">
            <a:extLst>
              <a:ext uri="{FF2B5EF4-FFF2-40B4-BE49-F238E27FC236}">
                <a16:creationId xmlns:a16="http://schemas.microsoft.com/office/drawing/2014/main" id="{5F8A6859-5CDB-1287-46A8-61549EA3F3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endParaRPr lang="ru-RU" altLang="ru-RU"/>
          </a:p>
        </p:txBody>
      </p:sp>
      <p:sp>
        <p:nvSpPr>
          <p:cNvPr id="98316" name="Rectangle 12">
            <a:extLst>
              <a:ext uri="{FF2B5EF4-FFF2-40B4-BE49-F238E27FC236}">
                <a16:creationId xmlns:a16="http://schemas.microsoft.com/office/drawing/2014/main" id="{9CA52B0E-A9A5-8116-FA7F-10D00C7BEC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98317" name="Rectangle 13">
            <a:extLst>
              <a:ext uri="{FF2B5EF4-FFF2-40B4-BE49-F238E27FC236}">
                <a16:creationId xmlns:a16="http://schemas.microsoft.com/office/drawing/2014/main" id="{0428A03F-8BF2-B7F7-CA3C-521C4DA2AE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E1FD985F-F05E-4B33-94B9-F2DF66A8E3EA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>
            <a:extLst>
              <a:ext uri="{FF2B5EF4-FFF2-40B4-BE49-F238E27FC236}">
                <a16:creationId xmlns:a16="http://schemas.microsoft.com/office/drawing/2014/main" id="{90BC27CC-6D5F-AB22-A18B-720D72FF83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ru-RU" sz="1600" b="0"/>
              <a:t>ЛЕКЦИЯ КАК ОСНОВНАЯ ФОРМА ОРГАНИЗАЦИИ       </a:t>
            </a:r>
            <a:br>
              <a:rPr lang="ru-RU" altLang="ru-RU" sz="1600" b="0"/>
            </a:br>
            <a:r>
              <a:rPr lang="ru-RU" altLang="ru-RU" sz="1600" b="0"/>
              <a:t>ОБУЧЕНИЯ В ВУЗЕ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3BCF3726-4CB4-E577-EAA2-D18DB74C2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>
            <a:extLst>
              <a:ext uri="{FF2B5EF4-FFF2-40B4-BE49-F238E27FC236}">
                <a16:creationId xmlns:a16="http://schemas.microsoft.com/office/drawing/2014/main" id="{82C2FC82-2DBF-FB72-89D2-13893F29B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525DB3F-0136-2968-2763-1011791B6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 sz="1600" b="1"/>
              <a:t>     М.В.Ломоносов отмечал, что грамотное чтение лекции, это -«искусство о всякой данной материи красно говорить и тем преклонять других к своему об оной мнению».</a:t>
            </a:r>
            <a:r>
              <a:rPr lang="ru-RU" altLang="ru-RU" sz="1600"/>
              <a:t> Для этого преподавателям следует </a:t>
            </a:r>
            <a:r>
              <a:rPr lang="ru-RU" altLang="ru-RU" sz="1600" b="1"/>
              <a:t>« разум свой острить через беспрестанное упражнение в сочинении и произношении слов, а не полагаться на одни правила и чтение авторов».</a:t>
            </a:r>
            <a:r>
              <a:rPr lang="ru-RU" altLang="ru-RU" sz="1600"/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 sz="1600"/>
          </a:p>
          <a:p>
            <a:pPr>
              <a:buFont typeface="Wingdings" panose="05000000000000000000" pitchFamily="2" charset="2"/>
              <a:buNone/>
            </a:pPr>
            <a:r>
              <a:rPr lang="ru-RU" altLang="ru-RU" sz="1600" b="1"/>
              <a:t>     Лекция (от лат. </a:t>
            </a:r>
            <a:r>
              <a:rPr lang="en-US" altLang="ru-RU" sz="1600" b="1"/>
              <a:t>lectio</a:t>
            </a:r>
            <a:r>
              <a:rPr lang="ru-RU" altLang="ru-RU" sz="1600" b="1"/>
              <a:t> – чтение) – систематическое, последовательное, монологическое изложение учителем (преподавателем, лектором) учебного материала, как правило, теоретического характера.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2">
            <a:extLst>
              <a:ext uri="{FF2B5EF4-FFF2-40B4-BE49-F238E27FC236}">
                <a16:creationId xmlns:a16="http://schemas.microsoft.com/office/drawing/2014/main" id="{D2CB0FA8-5E8C-F287-57FB-22D92A097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8B61D06-84CA-A1C1-DE08-2B317B926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Лекция как форма организации обучения появилась в Древней Греции, затем получила свое развитие в Древнем Риме. Активно вводилась как организационная форма обучения в университеты Европы в средние века.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Использование лекционной формы обучения было обусловлено следующими причинами: 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переход от индивидуальной формы обучения к фронтальной; 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нехватка квалифицированных специалистов; 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ограниченное количество необходимой для обучения литературы. </a:t>
            </a:r>
          </a:p>
          <a:p>
            <a:pPr>
              <a:lnSpc>
                <a:spcPct val="80000"/>
              </a:lnSpc>
            </a:pPr>
            <a:endParaRPr lang="ru-RU" altLang="ru-RU" sz="1600" b="1"/>
          </a:p>
          <a:p>
            <a:pPr>
              <a:lnSpc>
                <a:spcPct val="80000"/>
              </a:lnSpc>
            </a:pPr>
            <a:r>
              <a:rPr lang="ru-RU" altLang="ru-RU" sz="1600" b="1"/>
              <a:t>Ее цель – формирование ориентировочной основы для последующего самостоятельного усвоения студентами учебного материала.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</a:t>
            </a:r>
          </a:p>
          <a:p>
            <a:pPr>
              <a:lnSpc>
                <a:spcPct val="80000"/>
              </a:lnSpc>
            </a:pPr>
            <a:endParaRPr lang="ru-RU" altLang="ru-RU" sz="1600" b="1"/>
          </a:p>
          <a:p>
            <a:pPr>
              <a:lnSpc>
                <a:spcPct val="80000"/>
              </a:lnSpc>
            </a:pPr>
            <a:endParaRPr lang="ru-RU" altLang="ru-RU" sz="1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2">
            <a:extLst>
              <a:ext uri="{FF2B5EF4-FFF2-40B4-BE49-F238E27FC236}">
                <a16:creationId xmlns:a16="http://schemas.microsoft.com/office/drawing/2014/main" id="{A1111352-4FF1-8B27-6361-31D097C32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E624F54-53F9-7485-9E72-71F44B2A4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В учебном процессе складывается ряд ситуаций, когда лекционная форма обучения не может быть заменена никакой другой:</a:t>
            </a:r>
          </a:p>
          <a:p>
            <a:pPr>
              <a:lnSpc>
                <a:spcPct val="80000"/>
              </a:lnSpc>
            </a:pPr>
            <a:endParaRPr lang="ru-RU" altLang="ru-RU" sz="1600" b="1"/>
          </a:p>
          <a:p>
            <a:pPr>
              <a:lnSpc>
                <a:spcPct val="80000"/>
              </a:lnSpc>
            </a:pPr>
            <a:r>
              <a:rPr lang="ru-RU" altLang="ru-RU" sz="1600" b="1"/>
              <a:t>при отсутствии учебников по новым складывающимся  курсам лекция – основной источник информации;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новый учебный материал по конкретной теме не нашел еще отражения в существующих учебниках;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отдельные темы учебника особенно трудны для самостоятельного изучения и требуют методической переработки;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по основным проблемам курса существуют разноречивые концепции, лекция необходима для их объективного освещения;</a:t>
            </a:r>
          </a:p>
          <a:p>
            <a:pPr>
              <a:lnSpc>
                <a:spcPct val="80000"/>
              </a:lnSpc>
            </a:pPr>
            <a:r>
              <a:rPr lang="ru-RU" altLang="ru-RU" sz="1600" b="1"/>
              <a:t>лекция ничем незаменима в тех случаях, где особенно важно личное эмоциональное воздействие лектора на студентов с целью формирования их убеждений и взглядов; эмоциональная окраска лекции, сочетаясь с глубоким научным содержанием, создает гармонию мысли, слова и восприятия слушателями.</a:t>
            </a:r>
          </a:p>
          <a:p>
            <a:pPr>
              <a:lnSpc>
                <a:spcPct val="80000"/>
              </a:lnSpc>
            </a:pPr>
            <a:endParaRPr lang="ru-RU" altLang="ru-RU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utoShape 2">
            <a:extLst>
              <a:ext uri="{FF2B5EF4-FFF2-40B4-BE49-F238E27FC236}">
                <a16:creationId xmlns:a16="http://schemas.microsoft.com/office/drawing/2014/main" id="{DCB183ED-081D-C597-7F1A-6ED93AF98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1B3EA0A-DBF2-0F89-EEB0-6A1816C3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1600" b="1"/>
              <a:t>Современная лекция предполагает творческое общение лектора с аудиторией, сотворчество, партнерские отношения, эмоциональное взаимодействие. Это весьма экономичный способ получения основ знаний. Лекция активизирует мыслительную деятельность слушателей, мысли студентов движутся за мыслью преподавателя, если лекция правильно разработана и грамотно читается.</a:t>
            </a:r>
          </a:p>
          <a:p>
            <a:r>
              <a:rPr lang="ru-RU" altLang="ru-RU" sz="1600" b="1"/>
              <a:t>Форма (от лат.</a:t>
            </a:r>
            <a:r>
              <a:rPr lang="en-US" altLang="ru-RU" sz="1600" b="1"/>
              <a:t>forma</a:t>
            </a:r>
            <a:r>
              <a:rPr lang="ru-RU" altLang="ru-RU" sz="1600" b="1"/>
              <a:t> – внешнее очертание, наружный вид) рассматривается в науке как внешнее выражение какого-либо содержания. В педагогике под формами обучения принято понимать то или иное построение, организацию учебного процесса. Формы организации обучения или организационные формы обучения, как отмечают Н.В. Бордовская и А.А.Реан, раскрываются через способы взаимодействия преподавателя со студентами при решении образовательных задач, решаются посредством различных путей управления деятельностью, общением, отношениями. </a:t>
            </a:r>
          </a:p>
          <a:p>
            <a:endParaRPr lang="ru-RU" altLang="ru-RU" sz="1600" b="1"/>
          </a:p>
          <a:p>
            <a:endParaRPr lang="ru-RU" altLang="ru-RU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>
            <a:extLst>
              <a:ext uri="{FF2B5EF4-FFF2-40B4-BE49-F238E27FC236}">
                <a16:creationId xmlns:a16="http://schemas.microsoft.com/office/drawing/2014/main" id="{3EE08A05-34B1-BE1E-A008-6EDC63EF9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57C69AE-4838-560D-F75D-4AE584E93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600" b="1"/>
              <a:t>      Н.В.Бордовская и А.А.Реан сформулировали основные требования к чтению лекции: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высокий научный уровень излагаемой информации, имеющей, как  правило, мировоззренческое значение;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большой объем четко и плотно систематизированной и методически переработанной современной научной информации;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 доказательность и аргументированность высказываемых суждений;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достаточное количество приводимых убедительных фактов, примеров, текстов и документов;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ясность изложения мыслей и активизация мышления слушателей, постановка вопросов для самостоятельной работы по обсуждаемым проблемам;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анализ разных точек зрения на решение поставленных проблем;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выведение главных мыслей и положений, формулировка выводов;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разъяснение вводимых терминов и названий; предоставление студентам возможности слушать, осмысливать и кратко записывать информацию;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умение установить педагогический контакт с аудиторией; использование дидактических материалов и технических средств;</a:t>
            </a:r>
          </a:p>
          <a:p>
            <a:pPr>
              <a:lnSpc>
                <a:spcPct val="80000"/>
              </a:lnSpc>
            </a:pPr>
            <a:r>
              <a:rPr lang="ru-RU" altLang="ru-RU" sz="1400" b="1"/>
              <a:t>применение основных материалов текста, конспекта, блок-схем, чертежей, таблиц, графиков.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>
            <a:extLst>
              <a:ext uri="{FF2B5EF4-FFF2-40B4-BE49-F238E27FC236}">
                <a16:creationId xmlns:a16="http://schemas.microsoft.com/office/drawing/2014/main" id="{E2C8E090-3E19-9CEA-6202-77766AAB8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3B7D533-45FF-61E9-0A1F-24B13DEFA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1600" b="1"/>
              <a:t>Условно выделяются три функции:</a:t>
            </a:r>
            <a:r>
              <a:rPr lang="ru-RU" altLang="ru-RU" sz="1600"/>
              <a:t> </a:t>
            </a:r>
            <a:r>
              <a:rPr lang="ru-RU" altLang="ru-RU" sz="1600" b="1"/>
              <a:t>образовательная, воспитательная и развивающая. </a:t>
            </a:r>
          </a:p>
          <a:p>
            <a:r>
              <a:rPr lang="ru-RU" altLang="ru-RU" sz="1600" b="1"/>
              <a:t>Образовательная функция, прежде всего, предполагает усвоение научных знаний, формирование специальных и общеучебных умений и навыков.</a:t>
            </a:r>
            <a:r>
              <a:rPr lang="ru-RU" altLang="ru-RU" sz="1600"/>
              <a:t> </a:t>
            </a:r>
          </a:p>
          <a:p>
            <a:r>
              <a:rPr lang="ru-RU" altLang="ru-RU" sz="1600" b="1"/>
              <a:t>Одновременно реализуется и воспитательная функция, т.е. формируется мировоззрение, взгляды, качества личности, способы поведения и деятельности. Воспитательная функция реализуется через содержание, методы  обучения, отношение преподавателя к читаемому предмету, к студентам. </a:t>
            </a:r>
          </a:p>
          <a:p>
            <a:r>
              <a:rPr lang="ru-RU" altLang="ru-RU" sz="1600" b="1"/>
              <a:t>Развивающая функция реализуется в ходе обучения и воспитания. Однако данная функция реализуется наиболее эффективно, если обучение носит развивающий характер, т.е. используются  активные методы организации учебной деятельности студентов.</a:t>
            </a:r>
          </a:p>
          <a:p>
            <a:endParaRPr lang="ru-RU" altLang="ru-RU" sz="16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AutoShape 2">
            <a:extLst>
              <a:ext uri="{FF2B5EF4-FFF2-40B4-BE49-F238E27FC236}">
                <a16:creationId xmlns:a16="http://schemas.microsoft.com/office/drawing/2014/main" id="{FDEC226A-FB37-3808-EC18-5ADE04C8E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1200"/>
              <a:t>ЛЕКЦИЯ КАК ОСНОВНАЯ ФОРМА ОРГАНИЗАЦИИ       </a:t>
            </a:r>
            <a:br>
              <a:rPr lang="ru-RU" altLang="ru-RU" sz="1200"/>
            </a:br>
            <a:r>
              <a:rPr lang="ru-RU" altLang="ru-RU" sz="1200"/>
              <a:t>ОБУЧЕНИЯ В ВУЗЕ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397846BE-2B94-6A7B-7AC6-040CA69AD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1600" b="1"/>
              <a:t>Опираясь на общедидактический подход к определению функций обучения,</a:t>
            </a:r>
            <a:r>
              <a:rPr lang="ru-RU" altLang="ru-RU" sz="1600"/>
              <a:t> </a:t>
            </a:r>
            <a:r>
              <a:rPr lang="ru-RU" altLang="ru-RU" sz="1600" b="1"/>
              <a:t>Б.Ц.Бадмаев выделяет пять основных функций вузовской лекции:</a:t>
            </a:r>
          </a:p>
          <a:p>
            <a:r>
              <a:rPr lang="ru-RU" altLang="ru-RU" sz="1600" b="1"/>
              <a:t>Информационная</a:t>
            </a:r>
          </a:p>
          <a:p>
            <a:r>
              <a:rPr lang="ru-RU" altLang="ru-RU" sz="1600" b="1"/>
              <a:t>Ориентирующая</a:t>
            </a:r>
          </a:p>
          <a:p>
            <a:r>
              <a:rPr lang="ru-RU" altLang="ru-RU" sz="1600" b="1"/>
              <a:t>Разъясняющая, объясняющая</a:t>
            </a:r>
          </a:p>
          <a:p>
            <a:r>
              <a:rPr lang="ru-RU" altLang="ru-RU" sz="1600" b="1"/>
              <a:t>Убеждающая</a:t>
            </a:r>
          </a:p>
          <a:p>
            <a:r>
              <a:rPr lang="ru-RU" altLang="ru-RU" sz="1600" b="1"/>
              <a:t>Увлекающая или воодушевляющая (мотивирующая)</a:t>
            </a:r>
            <a:endParaRPr lang="ru-RU" altLang="ru-RU" sz="1600"/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8369851E-754D-7790-3055-813D62F5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063" y="324643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апсулы">
  <a:themeElements>
    <a:clrScheme name="Капсулы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Капсулы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Капсулы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191</TotalTime>
  <Words>771</Words>
  <Application>Microsoft Office PowerPoint</Application>
  <PresentationFormat>Экран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Wingdings</vt:lpstr>
      <vt:lpstr>Капсулы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  <vt:lpstr>ЛЕКЦИЯ КАК ОСНОВНАЯ ФОРМА ОРГАНИЗАЦИИ        ОБУЧЕНИЯ В ВУЗЕ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Андрей Лебедев</dc:creator>
  <cp:lastModifiedBy>Андрей Лебедев</cp:lastModifiedBy>
  <cp:revision>11</cp:revision>
  <dcterms:created xsi:type="dcterms:W3CDTF">1601-01-01T00:00:00Z</dcterms:created>
  <dcterms:modified xsi:type="dcterms:W3CDTF">2026-01-28T12:40:21Z</dcterms:modified>
</cp:coreProperties>
</file>
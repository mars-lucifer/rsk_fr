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93E384BC-6F32-EBC9-23B4-E1147B370C62}"/>
              </a:ext>
            </a:extLst>
          </p:cNvPr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6191548-B78F-C258-9B0D-AB37BBE90148}"/>
              </a:ext>
            </a:extLst>
          </p:cNvPr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6">
            <a:extLst>
              <a:ext uri="{FF2B5EF4-FFF2-40B4-BE49-F238E27FC236}">
                <a16:creationId xmlns:a16="http://schemas.microsoft.com/office/drawing/2014/main" id="{03514BA4-319D-0873-6390-54C71A9F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1ABB5-1127-4818-885A-CB1FB6A6C0C2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5" name="Нижний колонтитул 19">
            <a:extLst>
              <a:ext uri="{FF2B5EF4-FFF2-40B4-BE49-F238E27FC236}">
                <a16:creationId xmlns:a16="http://schemas.microsoft.com/office/drawing/2014/main" id="{8E377946-E534-2737-36D7-76F71411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9">
            <a:extLst>
              <a:ext uri="{FF2B5EF4-FFF2-40B4-BE49-F238E27FC236}">
                <a16:creationId xmlns:a16="http://schemas.microsoft.com/office/drawing/2014/main" id="{D1E41977-5644-6E39-A414-6E98A65E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C3E37B-D75B-48DC-927D-45D7C6B35C2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32009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23">
            <a:extLst>
              <a:ext uri="{FF2B5EF4-FFF2-40B4-BE49-F238E27FC236}">
                <a16:creationId xmlns:a16="http://schemas.microsoft.com/office/drawing/2014/main" id="{DED3622B-CE0C-4D7E-8914-EF6A95A4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A57E2-29F4-4A97-A0BE-2D6D04855A02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5" name="Нижний колонтитул 9">
            <a:extLst>
              <a:ext uri="{FF2B5EF4-FFF2-40B4-BE49-F238E27FC236}">
                <a16:creationId xmlns:a16="http://schemas.microsoft.com/office/drawing/2014/main" id="{A3EDCD44-BE4E-13E3-488E-9B4A5D37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>
            <a:extLst>
              <a:ext uri="{FF2B5EF4-FFF2-40B4-BE49-F238E27FC236}">
                <a16:creationId xmlns:a16="http://schemas.microsoft.com/office/drawing/2014/main" id="{7B27FA20-4C8E-AE45-B738-3D8A8BEB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1229EB-82E6-48DA-B7FF-0AD8482F1C6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5231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8329EE-A722-B41A-C1E6-73951DF6C066}"/>
              </a:ext>
            </a:extLst>
          </p:cNvPr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785A09-A347-81DF-D0F5-991A2F96A17B}"/>
              </a:ext>
            </a:extLst>
          </p:cNvPr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13B47512-5145-0C2F-2479-0AB65735CC79}"/>
              </a:ext>
            </a:extLst>
          </p:cNvPr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BFA3E44-C92C-3678-4D74-78D15BA65F6A}"/>
              </a:ext>
            </a:extLst>
          </p:cNvPr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275DC6E4-7502-2288-72E8-17636CA5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029342-D858-4A74-8622-BC1320EB0DB3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4CACA8D4-E59D-3D13-0266-0FB15F14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32C7A56-80F0-3286-0759-40896332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FAD8EC-05C8-4590-99EE-0A1EBEECFD6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1293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23">
            <a:extLst>
              <a:ext uri="{FF2B5EF4-FFF2-40B4-BE49-F238E27FC236}">
                <a16:creationId xmlns:a16="http://schemas.microsoft.com/office/drawing/2014/main" id="{C133D8DC-069E-8171-F523-4A22F053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5E54F-798B-4360-B4F5-369A0EB5CC0F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6" name="Нижний колонтитул 9">
            <a:extLst>
              <a:ext uri="{FF2B5EF4-FFF2-40B4-BE49-F238E27FC236}">
                <a16:creationId xmlns:a16="http://schemas.microsoft.com/office/drawing/2014/main" id="{80737256-F7C4-13D0-A2BB-6897B625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21">
            <a:extLst>
              <a:ext uri="{FF2B5EF4-FFF2-40B4-BE49-F238E27FC236}">
                <a16:creationId xmlns:a16="http://schemas.microsoft.com/office/drawing/2014/main" id="{6DB1B2ED-47B7-559E-FD3C-083632C4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A0DF03-6CBE-4F7D-A5D3-F887847692A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4901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AC910D-6B00-0D9C-3B47-D16E6AF4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CD193-E787-4B1A-82A3-EE3F63973DA7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62C5AA-8D83-69CF-6C53-18122EBC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B6A991-C282-7C12-2AA2-D9430029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028930-05A7-4DDA-AF3D-D9DF58122DCD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72856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3">
            <a:extLst>
              <a:ext uri="{FF2B5EF4-FFF2-40B4-BE49-F238E27FC236}">
                <a16:creationId xmlns:a16="http://schemas.microsoft.com/office/drawing/2014/main" id="{2D40F95D-9B3E-ED78-A4D0-B446FF21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9E5280-D182-4C63-A0C9-D821697B7F1F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4" name="Нижний колонтитул 9">
            <a:extLst>
              <a:ext uri="{FF2B5EF4-FFF2-40B4-BE49-F238E27FC236}">
                <a16:creationId xmlns:a16="http://schemas.microsoft.com/office/drawing/2014/main" id="{D75DCAC6-5020-0EC1-AB1A-E36E5595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21">
            <a:extLst>
              <a:ext uri="{FF2B5EF4-FFF2-40B4-BE49-F238E27FC236}">
                <a16:creationId xmlns:a16="http://schemas.microsoft.com/office/drawing/2014/main" id="{CB134A96-9DC3-9672-B9D1-49B211CC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26921-24EB-4164-8D3D-BC85F2CBB64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09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AD7DB3-4D72-EB33-4572-2A90E2F4A32F}"/>
              </a:ext>
            </a:extLst>
          </p:cNvPr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4F904B-C689-9E21-5571-C24E2121B0A1}"/>
              </a:ext>
            </a:extLst>
          </p:cNvPr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Дата 1">
            <a:extLst>
              <a:ext uri="{FF2B5EF4-FFF2-40B4-BE49-F238E27FC236}">
                <a16:creationId xmlns:a16="http://schemas.microsoft.com/office/drawing/2014/main" id="{BF9AB7AA-2AE7-409A-7E72-936F660F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BF9A5-1F1B-4ABB-AC89-B0FD8AF1A68E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5" name="Нижний колонтитул 2">
            <a:extLst>
              <a:ext uri="{FF2B5EF4-FFF2-40B4-BE49-F238E27FC236}">
                <a16:creationId xmlns:a16="http://schemas.microsoft.com/office/drawing/2014/main" id="{23525DBA-6632-B6C9-227B-1BF7EDB7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23BA9196-CB68-6CDD-4DBB-C7E034D5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BE2BFC-6D1C-46A3-BE79-340B762747E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5625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2E1E67-5D0C-CDCA-5706-067DC1277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955AD-02ED-4CBB-8415-01DE8AFC9FE9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CAB67-5324-6069-1A24-7663B7A6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A977F9-F52E-C07E-2C77-1E220842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12EA15-3933-4D36-B39C-22BD213441C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532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36E907-874C-8966-BC6E-3EA6A2572683}"/>
              </a:ext>
            </a:extLst>
          </p:cNvPr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  <a:cs typeface="+mn-cs"/>
            </a:endParaRPr>
          </a:p>
        </p:txBody>
      </p:sp>
      <p:sp>
        <p:nvSpPr>
          <p:cNvPr id="6" name="Блок-схема: процесс 5">
            <a:extLst>
              <a:ext uri="{FF2B5EF4-FFF2-40B4-BE49-F238E27FC236}">
                <a16:creationId xmlns:a16="http://schemas.microsoft.com/office/drawing/2014/main" id="{85EB4DFD-65BC-8227-3459-E7CD1DBDC10A}"/>
              </a:ext>
            </a:extLst>
          </p:cNvPr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Блок-схема: процесс 6">
            <a:extLst>
              <a:ext uri="{FF2B5EF4-FFF2-40B4-BE49-F238E27FC236}">
                <a16:creationId xmlns:a16="http://schemas.microsoft.com/office/drawing/2014/main" id="{F9DF3F0B-FB70-3AEA-D5BC-0C7526D4D250}"/>
              </a:ext>
            </a:extLst>
          </p:cNvPr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ru-RU" noProof="0"/>
              <a:t>Вставка рисунка</a:t>
            </a:r>
            <a:endParaRPr lang="en-US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4">
            <a:extLst>
              <a:ext uri="{FF2B5EF4-FFF2-40B4-BE49-F238E27FC236}">
                <a16:creationId xmlns:a16="http://schemas.microsoft.com/office/drawing/2014/main" id="{37A80FF8-441F-A804-0060-3D30A505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93F8E-984D-41BC-9311-E8D1E81FBF75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9" name="Нижний колонтитул 5">
            <a:extLst>
              <a:ext uri="{FF2B5EF4-FFF2-40B4-BE49-F238E27FC236}">
                <a16:creationId xmlns:a16="http://schemas.microsoft.com/office/drawing/2014/main" id="{207DB8A1-3B4A-0407-90AE-718FC896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Номер слайда 6">
            <a:extLst>
              <a:ext uri="{FF2B5EF4-FFF2-40B4-BE49-F238E27FC236}">
                <a16:creationId xmlns:a16="http://schemas.microsoft.com/office/drawing/2014/main" id="{BE6B2EE4-845C-225E-CDD5-23A0B3B4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E1F5B-50C0-4213-B9A9-C7C04AB9B788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4915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23">
            <a:extLst>
              <a:ext uri="{FF2B5EF4-FFF2-40B4-BE49-F238E27FC236}">
                <a16:creationId xmlns:a16="http://schemas.microsoft.com/office/drawing/2014/main" id="{62BC0D7B-366B-10F9-1EED-D4434AC39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8A4845-8126-4DC2-8942-91F6BF8467E8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5" name="Нижний колонтитул 9">
            <a:extLst>
              <a:ext uri="{FF2B5EF4-FFF2-40B4-BE49-F238E27FC236}">
                <a16:creationId xmlns:a16="http://schemas.microsoft.com/office/drawing/2014/main" id="{B280A86A-D994-81EA-5B39-379A7C3D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>
            <a:extLst>
              <a:ext uri="{FF2B5EF4-FFF2-40B4-BE49-F238E27FC236}">
                <a16:creationId xmlns:a16="http://schemas.microsoft.com/office/drawing/2014/main" id="{D4310D73-003A-B7D4-A58B-BC29054A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E4BFB-C9D0-4C43-BCF5-209C29902F87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5287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23">
            <a:extLst>
              <a:ext uri="{FF2B5EF4-FFF2-40B4-BE49-F238E27FC236}">
                <a16:creationId xmlns:a16="http://schemas.microsoft.com/office/drawing/2014/main" id="{CE85E9D0-BBED-5E8E-2738-BBA0F98D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265BC-F3AB-4368-A313-D4E064C0064A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5" name="Нижний колонтитул 9">
            <a:extLst>
              <a:ext uri="{FF2B5EF4-FFF2-40B4-BE49-F238E27FC236}">
                <a16:creationId xmlns:a16="http://schemas.microsoft.com/office/drawing/2014/main" id="{D61A0591-4DDE-C2FC-3A58-E983E536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21">
            <a:extLst>
              <a:ext uri="{FF2B5EF4-FFF2-40B4-BE49-F238E27FC236}">
                <a16:creationId xmlns:a16="http://schemas.microsoft.com/office/drawing/2014/main" id="{84E6669A-AC90-DE2F-522D-FAD6750F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052B3-B741-419F-8A0F-CD4F513343A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50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>
            <a:extLst>
              <a:ext uri="{FF2B5EF4-FFF2-40B4-BE49-F238E27FC236}">
                <a16:creationId xmlns:a16="http://schemas.microsoft.com/office/drawing/2014/main" id="{8BEBDEDD-583D-FD08-705C-730243D3A9B3}"/>
              </a:ext>
            </a:extLst>
          </p:cNvPr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D95A57C-FFDC-A3A9-571D-DA002CEE6F6A}"/>
              </a:ext>
            </a:extLst>
          </p:cNvPr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Кольцо 10">
            <a:extLst>
              <a:ext uri="{FF2B5EF4-FFF2-40B4-BE49-F238E27FC236}">
                <a16:creationId xmlns:a16="http://schemas.microsoft.com/office/drawing/2014/main" id="{39F7DDA6-DCF9-A7A8-DA91-13988F865C6A}"/>
              </a:ext>
            </a:extLst>
          </p:cNvPr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C1E0107-CF9E-637B-C290-F34BCE19D2FD}"/>
              </a:ext>
            </a:extLst>
          </p:cNvPr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B7BB41E-84A1-C64B-ACFA-FA9A2CF27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33" name="Текст 8">
            <a:extLst>
              <a:ext uri="{FF2B5EF4-FFF2-40B4-BE49-F238E27FC236}">
                <a16:creationId xmlns:a16="http://schemas.microsoft.com/office/drawing/2014/main" id="{3CD409FF-77EA-472C-1AD5-F2B463206D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  <a:endParaRPr lang="en-US" altLang="ru-RU"/>
          </a:p>
        </p:txBody>
      </p:sp>
      <p:sp>
        <p:nvSpPr>
          <p:cNvPr id="24" name="Дата 23">
            <a:extLst>
              <a:ext uri="{FF2B5EF4-FFF2-40B4-BE49-F238E27FC236}">
                <a16:creationId xmlns:a16="http://schemas.microsoft.com/office/drawing/2014/main" id="{FDE1C88A-B624-0764-76F1-F8643E68C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9F7C2CCA-994E-45FA-95CB-F6B2E8A26669}" type="datetimeFigureOut">
              <a:rPr lang="ru-RU"/>
              <a:pPr>
                <a:defRPr/>
              </a:pPr>
              <a:t>28.01.2026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D613C9F1-B853-7B14-7F5E-D731EB7E1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ru-RU"/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45980548-A2BC-D740-F884-EFE02EEA9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B5A788"/>
                </a:solidFill>
                <a:latin typeface="Corbel" panose="020B0503020204020204" pitchFamily="34" charset="0"/>
              </a:defRPr>
            </a:lvl1pPr>
          </a:lstStyle>
          <a:p>
            <a:fld id="{0CBBF9AB-823B-440C-B7B6-81EE13661AE6}" type="slidenum">
              <a:rPr lang="ru-RU" altLang="ru-RU"/>
              <a:pPr/>
              <a:t>‹#›</a:t>
            </a:fld>
            <a:endParaRPr lang="ru-RU" alt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D57C7F1-7E7D-BB64-EB2B-C4708833B486}"/>
              </a:ext>
            </a:extLst>
          </p:cNvPr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2" r:id="rId2"/>
    <p:sldLayoutId id="2147483768" r:id="rId3"/>
    <p:sldLayoutId id="2147483763" r:id="rId4"/>
    <p:sldLayoutId id="2147483769" r:id="rId5"/>
    <p:sldLayoutId id="2147483764" r:id="rId6"/>
    <p:sldLayoutId id="2147483770" r:id="rId7"/>
    <p:sldLayoutId id="2147483771" r:id="rId8"/>
    <p:sldLayoutId id="2147483772" r:id="rId9"/>
    <p:sldLayoutId id="2147483765" r:id="rId10"/>
    <p:sldLayoutId id="2147483766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Corbel" panose="020B0503020204020204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2CD3B-762A-33AD-814D-42977764B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188" y="1052513"/>
            <a:ext cx="7772400" cy="1470025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sz="6600" dirty="0">
                <a:solidFill>
                  <a:schemeClr val="tx2">
                    <a:satMod val="130000"/>
                  </a:schemeClr>
                </a:solidFill>
              </a:rPr>
              <a:t>Резюме -</a:t>
            </a:r>
          </a:p>
        </p:txBody>
      </p:sp>
      <p:sp>
        <p:nvSpPr>
          <p:cNvPr id="8195" name="Подзаголовок 2">
            <a:extLst>
              <a:ext uri="{FF2B5EF4-FFF2-40B4-BE49-F238E27FC236}">
                <a16:creationId xmlns:a16="http://schemas.microsoft.com/office/drawing/2014/main" id="{D8166504-EB8C-1847-EF66-A425E1509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113" y="2636838"/>
            <a:ext cx="7632700" cy="4221162"/>
          </a:xfrm>
        </p:spPr>
        <p:txBody>
          <a:bodyPr/>
          <a:lstStyle/>
          <a:p>
            <a:pPr marL="26988"/>
            <a:r>
              <a:rPr lang="ru-RU" altLang="ru-RU" sz="4800">
                <a:solidFill>
                  <a:schemeClr val="tx1"/>
                </a:solidFill>
              </a:rPr>
              <a:t>это первое, что необходимо иметь при поиске работы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D3C27-C20A-8A70-4293-D012AFB9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Что значит?</a:t>
            </a:r>
          </a:p>
        </p:txBody>
      </p:sp>
      <p:sp>
        <p:nvSpPr>
          <p:cNvPr id="9219" name="Содержимое 2">
            <a:extLst>
              <a:ext uri="{FF2B5EF4-FFF2-40B4-BE49-F238E27FC236}">
                <a16:creationId xmlns:a16="http://schemas.microsoft.com/office/drawing/2014/main" id="{67A11ECC-4504-BE4F-1840-FA2FEA788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sz="4000"/>
              <a:t>Резюме - это краткий вывод из сказанного, написанного или прочитанного, сжато излагающий основные положения (толковый словарь Д.Н. Ушакова).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3F4F0-44C7-B37E-F4AD-6AE103829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Зачем???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EB3A1A58-AA6C-68DC-5558-3C6EC95F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ru-RU" sz="4000" dirty="0"/>
              <a:t>резюме - это описание способностей человека, которые делают его конкурентоспособным на рынке труда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ru-RU" sz="4000" dirty="0"/>
              <a:t>Цель резюме - привлечь внимание к себе при первом, как привило, заочном знакомстве, произвести благоприятное впечатление и побудить работодателя пригласить Вас на личную встречу..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DFBC0-6761-1183-7E93-4E0AAA88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!!!!!</a:t>
            </a:r>
          </a:p>
        </p:txBody>
      </p:sp>
      <p:sp>
        <p:nvSpPr>
          <p:cNvPr id="11267" name="Содержимое 2">
            <a:extLst>
              <a:ext uri="{FF2B5EF4-FFF2-40B4-BE49-F238E27FC236}">
                <a16:creationId xmlns:a16="http://schemas.microsoft.com/office/drawing/2014/main" id="{D41545EE-F6D3-11B8-014C-7F38DFF3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altLang="ru-RU" sz="4000"/>
              <a:t> </a:t>
            </a:r>
            <a:r>
              <a:rPr lang="ru-RU" altLang="ru-RU" sz="4000" b="1"/>
              <a:t>главный принцип написания </a:t>
            </a:r>
            <a:r>
              <a:rPr lang="ru-RU" altLang="ru-RU" sz="4000"/>
              <a:t>резюме - подчеркнуть все положительные моменты и сделать незаметным, насколько это возможно, то, что вашей сильной стороной не является.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BC880-E013-0DE2-B1FF-E13FBD89F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Нужно написать такое резюме</a:t>
            </a:r>
          </a:p>
        </p:txBody>
      </p:sp>
      <p:sp>
        <p:nvSpPr>
          <p:cNvPr id="3" name="Содержимое 2">
            <a:extLst>
              <a:ext uri="{FF2B5EF4-FFF2-40B4-BE49-F238E27FC236}">
                <a16:creationId xmlns:a16="http://schemas.microsoft.com/office/drawing/2014/main" id="{5ABCD838-538C-F744-BECA-26315A93E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183187"/>
          </a:xfrm>
        </p:spPr>
        <p:txBody>
          <a:bodyPr>
            <a:normAutofit fontScale="92500" lnSpcReduction="20000"/>
          </a:bodyPr>
          <a:lstStyle/>
          <a:p>
            <a:pPr marL="365760" indent="-283464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чтобы потенциальный работодатель воспринял, что такое резюме является источником Ваших биографических данных и информации о Вашем профессиональном опыте; </a:t>
            </a:r>
          </a:p>
          <a:p>
            <a:pPr marL="365760" indent="-283464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что бы оно давало дополнительные сведения, которые заинтересуют работодателя и позволят подготовиться к проведению полноценного интервью с Вами; </a:t>
            </a:r>
          </a:p>
          <a:p>
            <a:pPr marL="365760" indent="-283464" algn="just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ru-RU" dirty="0"/>
              <a:t>что бы такое резюме отвечало на вопрос, соответствуете ли Вы требованиям, установленным работодателем для данной работы.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E3D3C-7BBE-9159-8954-846CAA2F7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ru-RU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3315" name="Содержимое 2">
            <a:extLst>
              <a:ext uri="{FF2B5EF4-FFF2-40B4-BE49-F238E27FC236}">
                <a16:creationId xmlns:a16="http://schemas.microsoft.com/office/drawing/2014/main" id="{948415D8-8722-D14D-3B20-3BC6F70B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/>
              <a:t>Чтобы написать хорошее резюме, необходимо следовать принципу избирательности. Информацию для резюме следует отбирать, исходя из его целей, то есть в резюме стоит включать описание именно тех аспектов вашего опыта, которые значимы для позиции, на которую вы претендуете.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96264-5DF1-E5D3-606B-E072AF3C4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>
                <a:solidFill>
                  <a:schemeClr val="tx2">
                    <a:satMod val="130000"/>
                  </a:schemeClr>
                </a:solidFill>
              </a:rPr>
              <a:t>Самый большой секрет резюме</a:t>
            </a:r>
          </a:p>
        </p:txBody>
      </p:sp>
      <p:sp>
        <p:nvSpPr>
          <p:cNvPr id="14339" name="Содержимое 2">
            <a:extLst>
              <a:ext uri="{FF2B5EF4-FFF2-40B4-BE49-F238E27FC236}">
                <a16:creationId xmlns:a16="http://schemas.microsoft.com/office/drawing/2014/main" id="{ED96004A-DF14-F873-FBD2-7D81F734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None/>
            </a:pPr>
            <a:endParaRPr lang="ru-RU" altLang="ru-RU"/>
          </a:p>
          <a:p>
            <a:r>
              <a:rPr lang="ru-RU" altLang="ru-RU"/>
              <a:t>нужно написать резюме не под кандидатуру соискателя, а под требование конкретного работодателя, с учетом особенностей бизнеса компании.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A09EF-F599-1B1C-F1E0-1A0D654E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ru-RU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5363" name="Содержимое 2">
            <a:extLst>
              <a:ext uri="{FF2B5EF4-FFF2-40B4-BE49-F238E27FC236}">
                <a16:creationId xmlns:a16="http://schemas.microsoft.com/office/drawing/2014/main" id="{0EA28EF3-9C35-81E0-B232-DAE614862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2" panose="05020102010507070707" pitchFamily="18" charset="2"/>
              <a:buNone/>
            </a:pPr>
            <a:r>
              <a:rPr lang="ru-RU" altLang="ru-RU" sz="4400" b="1"/>
              <a:t>одно из главных правил резюме: на каждое новое интервью следует приходить с новым резюме и никогда - без него.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28</TotalTime>
  <Words>263</Words>
  <Application>Microsoft Office PowerPoint</Application>
  <PresentationFormat>Экран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Corbel</vt:lpstr>
      <vt:lpstr>Arial</vt:lpstr>
      <vt:lpstr>Wingdings 2</vt:lpstr>
      <vt:lpstr>Verdana</vt:lpstr>
      <vt:lpstr>Calibri</vt:lpstr>
      <vt:lpstr>Gill Sans MT</vt:lpstr>
      <vt:lpstr>Солнцестояние</vt:lpstr>
      <vt:lpstr>Резюме -</vt:lpstr>
      <vt:lpstr>Что значит?</vt:lpstr>
      <vt:lpstr>Зачем???</vt:lpstr>
      <vt:lpstr>!!!!!</vt:lpstr>
      <vt:lpstr>Нужно написать такое резюме</vt:lpstr>
      <vt:lpstr>Презентация PowerPoint</vt:lpstr>
      <vt:lpstr>Самый большой секрет резюме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Резюме -</dc:title>
  <dc:creator>Елена</dc:creator>
  <cp:lastModifiedBy>Андрей Лебедев</cp:lastModifiedBy>
  <cp:revision>5</cp:revision>
  <dcterms:created xsi:type="dcterms:W3CDTF">2013-03-12T15:43:26Z</dcterms:created>
  <dcterms:modified xsi:type="dcterms:W3CDTF">2026-01-28T12:36:01Z</dcterms:modified>
</cp:coreProperties>
</file>
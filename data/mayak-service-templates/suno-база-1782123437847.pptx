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453A834C-EAC6-9F93-9627-2C9895DC1524}"/>
              </a:ext>
            </a:extLst>
          </p:cNvPr>
          <p:cNvSpPr/>
          <p:nvPr/>
        </p:nvSpPr>
        <p:spPr>
          <a:xfrm>
            <a:off x="615964" y="2065866"/>
            <a:ext cx="5418666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C8F1E6AF-C8AC-FF51-5FD8-B4DF22F04F80}"/>
              </a:ext>
            </a:extLst>
          </p:cNvPr>
          <p:cNvSpPr/>
          <p:nvPr/>
        </p:nvSpPr>
        <p:spPr>
          <a:xfrm>
            <a:off x="869964" y="231986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103675-41C7-DC0E-4DF6-4842BD37AD4C}"/>
              </a:ext>
            </a:extLst>
          </p:cNvPr>
          <p:cNvSpPr txBox="1"/>
          <p:nvPr/>
        </p:nvSpPr>
        <p:spPr>
          <a:xfrm>
            <a:off x="869964" y="231986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94D42-023B-D7B2-C663-25AF956CF7E8}"/>
              </a:ext>
            </a:extLst>
          </p:cNvPr>
          <p:cNvSpPr txBox="1"/>
          <p:nvPr/>
        </p:nvSpPr>
        <p:spPr>
          <a:xfrm>
            <a:off x="1631964" y="2353732"/>
            <a:ext cx="4064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Анализ требований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0B97E6-C405-DBC6-3F78-350FB286A652}"/>
              </a:ext>
            </a:extLst>
          </p:cNvPr>
          <p:cNvSpPr txBox="1"/>
          <p:nvPr/>
        </p:nvSpPr>
        <p:spPr>
          <a:xfrm>
            <a:off x="1631964" y="2878666"/>
            <a:ext cx="4064000" cy="592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475569"/>
                </a:solidFill>
                <a:latin typeface="Segoe UI"/>
              </a:rPr>
              <a:t>Перед тем как приступать к выполнению, остановитесь и детально ознакомьтесь с условиями задачи.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C3ECDF4F-5851-748D-1259-A2A95D71DC38}"/>
              </a:ext>
            </a:extLst>
          </p:cNvPr>
          <p:cNvSpPr/>
          <p:nvPr/>
        </p:nvSpPr>
        <p:spPr>
          <a:xfrm>
            <a:off x="869964" y="3589866"/>
            <a:ext cx="4910666" cy="1320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A36B86C3-FB10-8E38-6AF4-6BDAD20F0B8F}"/>
              </a:ext>
            </a:extLst>
          </p:cNvPr>
          <p:cNvSpPr/>
          <p:nvPr/>
        </p:nvSpPr>
        <p:spPr>
          <a:xfrm>
            <a:off x="1073164" y="3759199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DACEBD-1C5D-4FA8-95C4-6F40EFF4DC3D}"/>
              </a:ext>
            </a:extLst>
          </p:cNvPr>
          <p:cNvSpPr txBox="1"/>
          <p:nvPr/>
        </p:nvSpPr>
        <p:spPr>
          <a:xfrm>
            <a:off x="1073164" y="3759199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🛡️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91AE0-42AC-3333-A0BF-EBF7BFFC8F15}"/>
              </a:ext>
            </a:extLst>
          </p:cNvPr>
          <p:cNvSpPr txBox="1"/>
          <p:nvPr/>
        </p:nvSpPr>
        <p:spPr>
          <a:xfrm>
            <a:off x="1750497" y="3793066"/>
            <a:ext cx="3810000" cy="338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900" b="1">
                <a:solidFill>
                  <a:srgbClr val="2563EB"/>
                </a:solidFill>
                <a:latin typeface="Segoe UI"/>
              </a:rPr>
              <a:t>ВАЖНАЯ РЕКОМЕНДАЦИЯ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0906A0-3C14-0AFE-43A8-BD8329A4A272}"/>
              </a:ext>
            </a:extLst>
          </p:cNvPr>
          <p:cNvSpPr txBox="1"/>
          <p:nvPr/>
        </p:nvSpPr>
        <p:spPr>
          <a:xfrm>
            <a:off x="1750497" y="4131732"/>
            <a:ext cx="381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0F172A"/>
                </a:solidFill>
                <a:latin typeface="Segoe UI"/>
              </a:rPr>
              <a:t>Не переходите к следующему шагу, пока у вас не возникнет </a:t>
            </a:r>
            <a:r>
              <a:rPr lang="ru-RU" sz="1100" b="1">
                <a:solidFill>
                  <a:srgbClr val="0F172A"/>
                </a:solidFill>
                <a:latin typeface="Segoe UI"/>
              </a:rPr>
              <a:t>кристально ясного понимания</a:t>
            </a:r>
            <a:r>
              <a:rPr lang="ru-RU" sz="1100" b="0">
                <a:solidFill>
                  <a:srgbClr val="0F172A"/>
                </a:solidFill>
                <a:latin typeface="Segoe UI"/>
              </a:rPr>
              <a:t>, что от вас требуется.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8AA2020E-04AF-166F-F5B2-AF22C38E5613}"/>
              </a:ext>
            </a:extLst>
          </p:cNvPr>
          <p:cNvSpPr/>
          <p:nvPr/>
        </p:nvSpPr>
        <p:spPr>
          <a:xfrm>
            <a:off x="6553200" y="330200"/>
            <a:ext cx="4253653" cy="5862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12" descr="page_1_card.png">
            <a:extLst>
              <a:ext uri="{FF2B5EF4-FFF2-40B4-BE49-F238E27FC236}">
                <a16:creationId xmlns:a16="http://schemas.microsoft.com/office/drawing/2014/main" id="{0D6821EC-20B8-60B8-37F0-EF6BE07C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381000"/>
            <a:ext cx="4152053" cy="5760720"/>
          </a:xfrm>
          <a:prstGeom prst="rect">
            <a:avLst/>
          </a:prstGeom>
        </p:spPr>
      </p:pic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B17EFD0F-DF8B-1D3A-41EC-DF556BD1BE27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B626CF-A3CF-E091-3975-74002C729CDE}"/>
              </a:ext>
            </a:extLst>
          </p:cNvPr>
          <p:cNvSpPr txBox="1"/>
          <p:nvPr/>
        </p:nvSpPr>
        <p:spPr>
          <a:xfrm>
            <a:off x="677333" y="941846"/>
            <a:ext cx="5588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rPr dirty="0"/>
              <a:t>Изучение задания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">
            <a:extLst>
              <a:ext uri="{FF2B5EF4-FFF2-40B4-BE49-F238E27FC236}">
                <a16:creationId xmlns:a16="http://schemas.microsoft.com/office/drawing/2014/main" id="{77679283-EB4D-E492-6E6C-A9ECAA2DFD85}"/>
              </a:ext>
            </a:extLst>
          </p:cNvPr>
          <p:cNvSpPr/>
          <p:nvPr/>
        </p:nvSpPr>
        <p:spPr>
          <a:xfrm>
            <a:off x="677333" y="1578186"/>
            <a:ext cx="4336525" cy="36559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6C055068-7F5C-B2CB-3318-44F6962E466B}"/>
              </a:ext>
            </a:extLst>
          </p:cNvPr>
          <p:cNvSpPr/>
          <p:nvPr/>
        </p:nvSpPr>
        <p:spPr>
          <a:xfrm>
            <a:off x="931333" y="188298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10606-6A24-13D7-536C-241FEC03F085}"/>
              </a:ext>
            </a:extLst>
          </p:cNvPr>
          <p:cNvSpPr txBox="1"/>
          <p:nvPr/>
        </p:nvSpPr>
        <p:spPr>
          <a:xfrm>
            <a:off x="931333" y="188298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457D2C-69CB-2A78-DD5A-A6CF2976F7DC}"/>
              </a:ext>
            </a:extLst>
          </p:cNvPr>
          <p:cNvSpPr txBox="1"/>
          <p:nvPr/>
        </p:nvSpPr>
        <p:spPr>
          <a:xfrm>
            <a:off x="1862666" y="1916853"/>
            <a:ext cx="2794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Промт-инжиниринг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DB17AC-B2CD-B7C0-966E-4A7E575495C8}"/>
              </a:ext>
            </a:extLst>
          </p:cNvPr>
          <p:cNvSpPr txBox="1"/>
          <p:nvPr/>
        </p:nvSpPr>
        <p:spPr>
          <a:xfrm>
            <a:off x="931333" y="2624666"/>
            <a:ext cx="3725333" cy="21238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«Начать задание»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на тренажере.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При необходимости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(есть знак «?»)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скачайте и изучите доп. материалы.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Заполните ТЗ по методологии </a:t>
            </a:r>
            <a:r>
              <a:rPr lang="ru-RU" sz="1200" b="1" dirty="0">
                <a:solidFill>
                  <a:srgbClr val="2563EB"/>
                </a:solidFill>
                <a:latin typeface="Segoe UI"/>
              </a:rPr>
              <a:t>МАЯК ОКО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(Миссия, Аудитория, Я-роль, Критерии, Ограничения, Контекст, Оформление).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200" b="1" dirty="0">
                <a:solidFill>
                  <a:srgbClr val="2563EB"/>
                </a:solidFill>
                <a:latin typeface="Segoe UI"/>
              </a:rPr>
              <a:t>4.  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200" b="1" dirty="0">
                <a:solidFill>
                  <a:srgbClr val="0F172A"/>
                </a:solidFill>
                <a:latin typeface="Segoe UI"/>
              </a:rPr>
              <a:t>«Создать запрос»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 для генерации </a:t>
            </a:r>
            <a:r>
              <a:rPr lang="ru-RU" sz="1200" b="0" dirty="0" err="1">
                <a:solidFill>
                  <a:srgbClr val="475569"/>
                </a:solidFill>
                <a:latin typeface="Segoe UI"/>
              </a:rPr>
              <a:t>промта</a:t>
            </a:r>
            <a:r>
              <a:rPr lang="ru-RU" sz="1200" b="0" dirty="0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7F6C958C-4554-91CC-B9AC-08938F1D9C64}"/>
              </a:ext>
            </a:extLst>
          </p:cNvPr>
          <p:cNvSpPr/>
          <p:nvPr/>
        </p:nvSpPr>
        <p:spPr>
          <a:xfrm>
            <a:off x="5232400" y="1578186"/>
            <a:ext cx="6397413" cy="365590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AEF48BC7-94B3-B5CA-19AD-32CEA131D3AA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BD065A-B5A2-4C05-D7D8-E0E22B372383}"/>
              </a:ext>
            </a:extLst>
          </p:cNvPr>
          <p:cNvSpPr txBox="1"/>
          <p:nvPr/>
        </p:nvSpPr>
        <p:spPr>
          <a:xfrm>
            <a:off x="677333" y="643466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Проектирование промта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4EBA89-5698-6EE9-9F76-CCE2676A1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04" y="1783987"/>
            <a:ext cx="6216424" cy="3244303"/>
          </a:xfrm>
          <a:prstGeom prst="rect">
            <a:avLst/>
          </a:prstGeom>
        </p:spPr>
      </p:pic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69213706-D113-96CD-048B-97488A91C021}"/>
              </a:ext>
            </a:extLst>
          </p:cNvPr>
          <p:cNvCxnSpPr>
            <a:cxnSpLocks/>
          </p:cNvCxnSpPr>
          <p:nvPr/>
        </p:nvCxnSpPr>
        <p:spPr>
          <a:xfrm flipV="1">
            <a:off x="8278695" y="2829117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BEA73D9-154C-D9A5-92E8-581697C967AC}"/>
              </a:ext>
            </a:extLst>
          </p:cNvPr>
          <p:cNvCxnSpPr>
            <a:cxnSpLocks/>
          </p:cNvCxnSpPr>
          <p:nvPr/>
        </p:nvCxnSpPr>
        <p:spPr>
          <a:xfrm flipV="1">
            <a:off x="5436282" y="4839904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936CD818-5B7A-18E2-3019-13F3A24E1959}"/>
              </a:ext>
            </a:extLst>
          </p:cNvPr>
          <p:cNvSpPr/>
          <p:nvPr/>
        </p:nvSpPr>
        <p:spPr>
          <a:xfrm>
            <a:off x="311573" y="1631526"/>
            <a:ext cx="7057813" cy="401827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D6E2A6F4-C6BA-4AF2-18C0-886C6B17C11A}"/>
              </a:ext>
            </a:extLst>
          </p:cNvPr>
          <p:cNvSpPr/>
          <p:nvPr/>
        </p:nvSpPr>
        <p:spPr>
          <a:xfrm>
            <a:off x="7462849" y="1631526"/>
            <a:ext cx="4390485" cy="4018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0770F991-7980-ED5F-9F5E-E179A3492EBC}"/>
              </a:ext>
            </a:extLst>
          </p:cNvPr>
          <p:cNvSpPr/>
          <p:nvPr/>
        </p:nvSpPr>
        <p:spPr>
          <a:xfrm>
            <a:off x="7958666" y="193632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8B802-A517-4089-80A9-C1CF9FB1BFEF}"/>
              </a:ext>
            </a:extLst>
          </p:cNvPr>
          <p:cNvSpPr txBox="1"/>
          <p:nvPr/>
        </p:nvSpPr>
        <p:spPr>
          <a:xfrm>
            <a:off x="7958666" y="193632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 dirty="0">
                <a:latin typeface="Segoe UI Emoji"/>
              </a:rPr>
              <a:t>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3DE95-B136-274E-4E38-02196B50E4EB}"/>
              </a:ext>
            </a:extLst>
          </p:cNvPr>
          <p:cNvSpPr txBox="1"/>
          <p:nvPr/>
        </p:nvSpPr>
        <p:spPr>
          <a:xfrm>
            <a:off x="8890000" y="1970193"/>
            <a:ext cx="2709333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Выбор сервиса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4FFAA1-C7F8-5BC5-28E5-6ACE4B536A46}"/>
              </a:ext>
            </a:extLst>
          </p:cNvPr>
          <p:cNvSpPr txBox="1"/>
          <p:nvPr/>
        </p:nvSpPr>
        <p:spPr>
          <a:xfrm>
            <a:off x="8890000" y="2513753"/>
            <a:ext cx="2709333" cy="931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b="0">
                <a:solidFill>
                  <a:srgbClr val="475569"/>
                </a:solidFill>
                <a:latin typeface="Segoe UI"/>
              </a:rPr>
              <a:t>Перейдите во внешний ИИ-сервис, рекомендованный для выполнения задания.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D6C4838F-D2DD-9AFF-EDF6-58FB88486E45}"/>
              </a:ext>
            </a:extLst>
          </p:cNvPr>
          <p:cNvSpPr/>
          <p:nvPr/>
        </p:nvSpPr>
        <p:spPr>
          <a:xfrm>
            <a:off x="7958666" y="3529753"/>
            <a:ext cx="3556000" cy="1862666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A5FCDB1B-58EE-F15F-B43D-DF2A453945A2}"/>
              </a:ext>
            </a:extLst>
          </p:cNvPr>
          <p:cNvSpPr/>
          <p:nvPr/>
        </p:nvSpPr>
        <p:spPr>
          <a:xfrm>
            <a:off x="8128000" y="3699086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35EE7A-D161-92CA-65FD-50C614E48F7D}"/>
              </a:ext>
            </a:extLst>
          </p:cNvPr>
          <p:cNvSpPr txBox="1"/>
          <p:nvPr/>
        </p:nvSpPr>
        <p:spPr>
          <a:xfrm>
            <a:off x="8128000" y="3699086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💡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ECAD11-0A59-8163-06BA-49C2AF261112}"/>
              </a:ext>
            </a:extLst>
          </p:cNvPr>
          <p:cNvSpPr txBox="1"/>
          <p:nvPr/>
        </p:nvSpPr>
        <p:spPr>
          <a:xfrm>
            <a:off x="8890000" y="3849178"/>
            <a:ext cx="2455333" cy="338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900" b="1" dirty="0">
                <a:solidFill>
                  <a:srgbClr val="2563EB"/>
                </a:solidFill>
                <a:latin typeface="Segoe UI"/>
              </a:rPr>
              <a:t>РЕКОМЕНДОВАННЫЙ СЕРВИС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67FC1-FBE2-8BCC-28E1-6A10753FBF2B}"/>
              </a:ext>
            </a:extLst>
          </p:cNvPr>
          <p:cNvSpPr txBox="1"/>
          <p:nvPr/>
        </p:nvSpPr>
        <p:spPr>
          <a:xfrm>
            <a:off x="8889999" y="4506805"/>
            <a:ext cx="2455333" cy="3726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100" b="0" dirty="0">
                <a:solidFill>
                  <a:srgbClr val="0F172A"/>
                </a:solidFill>
                <a:latin typeface="Segoe UI"/>
              </a:rPr>
              <a:t>Используйте кнопку </a:t>
            </a:r>
            <a:r>
              <a:rPr lang="en-US" sz="1100" dirty="0" err="1">
                <a:solidFill>
                  <a:srgbClr val="0F172A"/>
                </a:solidFill>
                <a:latin typeface="Segoe UI"/>
              </a:rPr>
              <a:t>Suno</a:t>
            </a:r>
            <a:r>
              <a:rPr lang="en-US" sz="1100" dirty="0">
                <a:solidFill>
                  <a:srgbClr val="0F172A"/>
                </a:solidFill>
                <a:latin typeface="Segoe UI"/>
              </a:rPr>
              <a:t> </a:t>
            </a:r>
            <a:r>
              <a:rPr lang="ru-RU" sz="1100" b="0" dirty="0">
                <a:solidFill>
                  <a:srgbClr val="0F172A"/>
                </a:solidFill>
                <a:latin typeface="Segoe UI"/>
              </a:rPr>
              <a:t>на панели выбора ИИ-сервисов.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421ECB22-6E19-2AE6-857D-891E433BF2B9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5866C-6521-9FD7-3FC6-35034B622F47}"/>
              </a:ext>
            </a:extLst>
          </p:cNvPr>
          <p:cNvSpPr txBox="1"/>
          <p:nvPr/>
        </p:nvSpPr>
        <p:spPr>
          <a:xfrm>
            <a:off x="677333" y="670559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Переход в рекомендованный сервис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323AAA8-9D42-04D2-1E56-B617AAC7F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36" y="1802551"/>
            <a:ext cx="6852898" cy="3589867"/>
          </a:xfrm>
          <a:prstGeom prst="rect">
            <a:avLst/>
          </a:prstGeom>
        </p:spPr>
      </p:pic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CE3E6451-436F-0444-B85C-BF6DD6260B7B}"/>
              </a:ext>
            </a:extLst>
          </p:cNvPr>
          <p:cNvCxnSpPr>
            <a:cxnSpLocks/>
          </p:cNvCxnSpPr>
          <p:nvPr/>
        </p:nvCxnSpPr>
        <p:spPr>
          <a:xfrm flipV="1">
            <a:off x="6258628" y="2979419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17D79BA8-82E3-1386-8951-867E877B97FD}"/>
              </a:ext>
            </a:extLst>
          </p:cNvPr>
          <p:cNvSpPr/>
          <p:nvPr/>
        </p:nvSpPr>
        <p:spPr>
          <a:xfrm>
            <a:off x="440427" y="2235199"/>
            <a:ext cx="5426462" cy="275674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3912B8FB-8D8B-4B28-59EC-7A2297C16CAA}"/>
              </a:ext>
            </a:extLst>
          </p:cNvPr>
          <p:cNvSpPr/>
          <p:nvPr/>
        </p:nvSpPr>
        <p:spPr>
          <a:xfrm>
            <a:off x="694427" y="28448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CD4987-D0C5-E6F2-AA14-CD357CEFBA95}"/>
              </a:ext>
            </a:extLst>
          </p:cNvPr>
          <p:cNvSpPr txBox="1"/>
          <p:nvPr/>
        </p:nvSpPr>
        <p:spPr>
          <a:xfrm>
            <a:off x="694427" y="28448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9E1559-C396-C9E2-784C-3AEABA760FF8}"/>
              </a:ext>
            </a:extLst>
          </p:cNvPr>
          <p:cNvSpPr txBox="1"/>
          <p:nvPr/>
        </p:nvSpPr>
        <p:spPr>
          <a:xfrm>
            <a:off x="1625760" y="2878666"/>
            <a:ext cx="3810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Вход в систему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5920B-923F-516E-922F-FFAA4E28AD99}"/>
              </a:ext>
            </a:extLst>
          </p:cNvPr>
          <p:cNvSpPr txBox="1"/>
          <p:nvPr/>
        </p:nvSpPr>
        <p:spPr>
          <a:xfrm>
            <a:off x="1625760" y="3437466"/>
            <a:ext cx="3810000" cy="931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100" b="0" dirty="0">
                <a:solidFill>
                  <a:srgbClr val="475569"/>
                </a:solidFill>
                <a:latin typeface="Segoe UI"/>
              </a:rPr>
              <a:t>Для начала работы пройдите быструю авторизацию.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100" b="0" dirty="0">
                <a:solidFill>
                  <a:srgbClr val="0F172A"/>
                </a:solidFill>
                <a:latin typeface="Segoe UI"/>
              </a:rPr>
              <a:t>💡 Используйте </a:t>
            </a:r>
            <a:r>
              <a:rPr lang="ru-RU" sz="1100" b="1" dirty="0">
                <a:solidFill>
                  <a:srgbClr val="2563EB"/>
                </a:solidFill>
                <a:latin typeface="Segoe UI"/>
              </a:rPr>
              <a:t>Google-аккаунт</a:t>
            </a:r>
            <a:r>
              <a:rPr lang="ru-RU" sz="1100" b="0" dirty="0">
                <a:solidFill>
                  <a:srgbClr val="0F172A"/>
                </a:solidFill>
                <a:latin typeface="Segoe UI"/>
              </a:rPr>
              <a:t> — это сэкономит время.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E23F7B4E-1CE2-39FA-1AC9-A6EAC73730DA}"/>
              </a:ext>
            </a:extLst>
          </p:cNvPr>
          <p:cNvSpPr/>
          <p:nvPr/>
        </p:nvSpPr>
        <p:spPr>
          <a:xfrm>
            <a:off x="6400800" y="2235199"/>
            <a:ext cx="5045462" cy="27567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BD451BD3-076A-3B51-2C6E-4E80B23AFFC3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62EC71-63DF-C9AA-5AA7-27AF9C239B38}"/>
              </a:ext>
            </a:extLst>
          </p:cNvPr>
          <p:cNvSpPr txBox="1"/>
          <p:nvPr/>
        </p:nvSpPr>
        <p:spPr>
          <a:xfrm>
            <a:off x="677333" y="643466"/>
            <a:ext cx="508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Пройдите регистрацию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13B8080-2CC9-F6CF-BE1C-A9788EE7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475" y="2326662"/>
            <a:ext cx="4772756" cy="2573819"/>
          </a:xfrm>
          <a:prstGeom prst="rect">
            <a:avLst/>
          </a:prstGeom>
        </p:spPr>
      </p:pic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874E3C4-2603-498A-364B-EEAAE7B7F509}"/>
              </a:ext>
            </a:extLst>
          </p:cNvPr>
          <p:cNvCxnSpPr>
            <a:cxnSpLocks/>
          </p:cNvCxnSpPr>
          <p:nvPr/>
        </p:nvCxnSpPr>
        <p:spPr>
          <a:xfrm flipV="1">
            <a:off x="10173075" y="2547273"/>
            <a:ext cx="405037" cy="3313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696E5F3-9E47-E170-735A-08B816DE38BA}"/>
              </a:ext>
            </a:extLst>
          </p:cNvPr>
          <p:cNvCxnSpPr>
            <a:cxnSpLocks/>
          </p:cNvCxnSpPr>
          <p:nvPr/>
        </p:nvCxnSpPr>
        <p:spPr>
          <a:xfrm flipV="1">
            <a:off x="8060954" y="3352800"/>
            <a:ext cx="405037" cy="3313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13667BB8-B3CB-5B93-3B94-A1B011A53BA0}"/>
              </a:ext>
            </a:extLst>
          </p:cNvPr>
          <p:cNvSpPr/>
          <p:nvPr/>
        </p:nvSpPr>
        <p:spPr>
          <a:xfrm>
            <a:off x="677333" y="3962950"/>
            <a:ext cx="4772360" cy="26410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0666" y="1161781"/>
            <a:ext cx="5418666" cy="54422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4160" y="1639282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4160" y="1708616"/>
            <a:ext cx="508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6160" y="1673148"/>
            <a:ext cx="4064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500" b="1">
                <a:solidFill>
                  <a:srgbClr val="0F172A"/>
                </a:solidFill>
                <a:latin typeface="Trebuchet MS"/>
              </a:rPr>
              <a:t>Создание трека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4160" y="2316615"/>
            <a:ext cx="4910666" cy="409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4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2400" b="0" dirty="0">
                <a:solidFill>
                  <a:srgbClr val="475569"/>
                </a:solidFill>
                <a:latin typeface="Segoe UI"/>
              </a:rPr>
              <a:t>Перейдите в боковом меню в раздел </a:t>
            </a:r>
            <a:r>
              <a:rPr lang="ru-RU" sz="2400" b="1" dirty="0">
                <a:solidFill>
                  <a:srgbClr val="0F172A"/>
                </a:solidFill>
                <a:latin typeface="Segoe UI"/>
              </a:rPr>
              <a:t>«</a:t>
            </a:r>
            <a:r>
              <a:rPr lang="ru-RU" sz="2400" b="1" dirty="0" err="1">
                <a:solidFill>
                  <a:srgbClr val="0F172A"/>
                </a:solidFill>
                <a:latin typeface="Segoe UI"/>
              </a:rPr>
              <a:t>Create</a:t>
            </a:r>
            <a:r>
              <a:rPr lang="ru-RU" sz="2400" b="1" dirty="0">
                <a:solidFill>
                  <a:srgbClr val="0F172A"/>
                </a:solidFill>
                <a:latin typeface="Segoe UI"/>
              </a:rPr>
              <a:t>»</a:t>
            </a:r>
            <a:r>
              <a:rPr lang="ru-RU" sz="2400" dirty="0">
                <a:solidFill>
                  <a:srgbClr val="475569"/>
                </a:solidFill>
                <a:latin typeface="Segoe UI"/>
              </a:rPr>
              <a:t> и выберите режим </a:t>
            </a:r>
            <a:r>
              <a:rPr lang="ru-RU" sz="2400" b="1" dirty="0">
                <a:latin typeface="Segoe UI"/>
              </a:rPr>
              <a:t>«</a:t>
            </a:r>
            <a:r>
              <a:rPr lang="en-US" sz="2400" b="1" dirty="0">
                <a:latin typeface="Segoe UI"/>
              </a:rPr>
              <a:t>Simple</a:t>
            </a:r>
            <a:r>
              <a:rPr lang="ru-RU" sz="2400" b="1" dirty="0">
                <a:latin typeface="Segoe UI"/>
              </a:rPr>
              <a:t>»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4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2400" b="0" dirty="0">
                <a:solidFill>
                  <a:srgbClr val="475569"/>
                </a:solidFill>
                <a:latin typeface="Segoe UI"/>
              </a:rPr>
              <a:t>Вставьте ваш подготовленный </a:t>
            </a:r>
            <a:r>
              <a:rPr lang="ru-RU" sz="2400" b="0" dirty="0" err="1">
                <a:solidFill>
                  <a:srgbClr val="475569"/>
                </a:solidFill>
                <a:latin typeface="Segoe UI"/>
              </a:rPr>
              <a:t>промт</a:t>
            </a:r>
            <a:r>
              <a:rPr lang="ru-RU" sz="2400" b="0" dirty="0">
                <a:solidFill>
                  <a:srgbClr val="475569"/>
                </a:solidFill>
                <a:latin typeface="Segoe UI"/>
              </a:rPr>
              <a:t> в поле ввода.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4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24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2400" b="1" dirty="0">
                <a:solidFill>
                  <a:srgbClr val="0F172A"/>
                </a:solidFill>
                <a:latin typeface="Segoe UI"/>
              </a:rPr>
              <a:t>«</a:t>
            </a:r>
            <a:r>
              <a:rPr lang="ru-RU" sz="2400" b="1" dirty="0" err="1">
                <a:solidFill>
                  <a:srgbClr val="0F172A"/>
                </a:solidFill>
                <a:latin typeface="Segoe UI"/>
              </a:rPr>
              <a:t>Create</a:t>
            </a:r>
            <a:r>
              <a:rPr lang="ru-RU" sz="2400" b="1" dirty="0">
                <a:solidFill>
                  <a:srgbClr val="0F172A"/>
                </a:solidFill>
                <a:latin typeface="Segoe UI"/>
              </a:rPr>
              <a:t>»</a:t>
            </a:r>
            <a:endParaRPr lang="ru-RU" sz="24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400" b="0" dirty="0">
                <a:solidFill>
                  <a:srgbClr val="475569"/>
                </a:solidFill>
                <a:latin typeface="Segoe UI"/>
              </a:rPr>
              <a:t>для начала генерации.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400" b="1" dirty="0">
                <a:solidFill>
                  <a:srgbClr val="2563EB"/>
                </a:solidFill>
                <a:latin typeface="Segoe UI"/>
              </a:rPr>
              <a:t>4.  </a:t>
            </a:r>
            <a:r>
              <a:rPr lang="ru-RU" sz="2400" b="0" dirty="0">
                <a:solidFill>
                  <a:srgbClr val="475569"/>
                </a:solidFill>
                <a:latin typeface="Segoe UI"/>
              </a:rPr>
              <a:t>Прослушайте варианты и скачайте полученную песню.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33" y="643466"/>
            <a:ext cx="10837333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t>Запуск и получение результата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851A5F1-98DC-E137-F1C7-B9D425B2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30" y="4040008"/>
            <a:ext cx="4588366" cy="2486934"/>
          </a:xfrm>
          <a:prstGeom prst="rect">
            <a:avLst/>
          </a:prstGeom>
        </p:spPr>
      </p:pic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BC067416-BF7D-4A95-A487-CFC7C8D26AF7}"/>
              </a:ext>
            </a:extLst>
          </p:cNvPr>
          <p:cNvSpPr/>
          <p:nvPr/>
        </p:nvSpPr>
        <p:spPr>
          <a:xfrm>
            <a:off x="677618" y="1161781"/>
            <a:ext cx="4772360" cy="26410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AA12565-A391-8752-62C5-EFE0D5C8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74" y="1261928"/>
            <a:ext cx="4588366" cy="2485141"/>
          </a:xfrm>
          <a:prstGeom prst="rect">
            <a:avLst/>
          </a:prstGeom>
        </p:spPr>
      </p:pic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4A0DA5E-90F0-29CF-C841-7F9E80D36D32}"/>
              </a:ext>
            </a:extLst>
          </p:cNvPr>
          <p:cNvCxnSpPr>
            <a:cxnSpLocks/>
          </p:cNvCxnSpPr>
          <p:nvPr/>
        </p:nvCxnSpPr>
        <p:spPr>
          <a:xfrm flipH="1" flipV="1">
            <a:off x="1065403" y="2261056"/>
            <a:ext cx="239859" cy="44249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643C47F-56BC-508D-B39D-E2DDEA0740E1}"/>
              </a:ext>
            </a:extLst>
          </p:cNvPr>
          <p:cNvCxnSpPr>
            <a:cxnSpLocks/>
          </p:cNvCxnSpPr>
          <p:nvPr/>
        </p:nvCxnSpPr>
        <p:spPr>
          <a:xfrm>
            <a:off x="1065403" y="1548733"/>
            <a:ext cx="325089" cy="2903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8A67AF5-8F3A-2F7D-6060-39013572539F}"/>
              </a:ext>
            </a:extLst>
          </p:cNvPr>
          <p:cNvCxnSpPr>
            <a:cxnSpLocks/>
          </p:cNvCxnSpPr>
          <p:nvPr/>
        </p:nvCxnSpPr>
        <p:spPr>
          <a:xfrm>
            <a:off x="1390492" y="3055210"/>
            <a:ext cx="325089" cy="2903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903FA9AD-C7DE-1CC3-9D5E-34F0A9323E9A}"/>
              </a:ext>
            </a:extLst>
          </p:cNvPr>
          <p:cNvCxnSpPr>
            <a:cxnSpLocks/>
          </p:cNvCxnSpPr>
          <p:nvPr/>
        </p:nvCxnSpPr>
        <p:spPr>
          <a:xfrm>
            <a:off x="2665603" y="4984358"/>
            <a:ext cx="325089" cy="2903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6DA0A3A2-AAEC-EB61-F210-DDFCA03945DF}"/>
              </a:ext>
            </a:extLst>
          </p:cNvPr>
          <p:cNvCxnSpPr>
            <a:cxnSpLocks/>
          </p:cNvCxnSpPr>
          <p:nvPr/>
        </p:nvCxnSpPr>
        <p:spPr>
          <a:xfrm flipH="1">
            <a:off x="3435034" y="5555396"/>
            <a:ext cx="349408" cy="2816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Прямая со стрелкой 1">
            <a:extLst>
              <a:ext uri="{FF2B5EF4-FFF2-40B4-BE49-F238E27FC236}">
                <a16:creationId xmlns:a16="http://schemas.microsoft.com/office/drawing/2014/main" id="{054C62AD-9E49-FA4D-B449-B58D85897C43}"/>
              </a:ext>
            </a:extLst>
          </p:cNvPr>
          <p:cNvCxnSpPr>
            <a:cxnSpLocks/>
          </p:cNvCxnSpPr>
          <p:nvPr/>
        </p:nvCxnSpPr>
        <p:spPr>
          <a:xfrm flipH="1" flipV="1">
            <a:off x="1843601" y="1405465"/>
            <a:ext cx="420920" cy="33427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1E150EB2-B38D-59C1-33A0-321E2A8B93A2}"/>
              </a:ext>
            </a:extLst>
          </p:cNvPr>
          <p:cNvSpPr/>
          <p:nvPr/>
        </p:nvSpPr>
        <p:spPr>
          <a:xfrm>
            <a:off x="677333" y="2743200"/>
            <a:ext cx="5080000" cy="37761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1EA345A8-92B2-9956-D1CE-56E247FA6DA5}"/>
              </a:ext>
            </a:extLst>
          </p:cNvPr>
          <p:cNvSpPr/>
          <p:nvPr/>
        </p:nvSpPr>
        <p:spPr>
          <a:xfrm>
            <a:off x="1016000" y="2952081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C03A21-5699-2E3B-2141-430E8919C5E6}"/>
              </a:ext>
            </a:extLst>
          </p:cNvPr>
          <p:cNvSpPr txBox="1"/>
          <p:nvPr/>
        </p:nvSpPr>
        <p:spPr>
          <a:xfrm>
            <a:off x="1016000" y="29210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lang="ru-RU"/>
            </a:pPr>
            <a:r>
              <a:rPr sz="2400">
                <a:latin typeface="Segoe UI Emoji"/>
              </a:rPr>
              <a:t>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62E6D-E5E5-386A-9881-4A855B48F4B6}"/>
              </a:ext>
            </a:extLst>
          </p:cNvPr>
          <p:cNvSpPr txBox="1"/>
          <p:nvPr/>
        </p:nvSpPr>
        <p:spPr>
          <a:xfrm>
            <a:off x="1769363" y="3075018"/>
            <a:ext cx="3556000" cy="423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ru-RU" sz="1500" b="1" dirty="0">
                <a:solidFill>
                  <a:srgbClr val="0F172A"/>
                </a:solidFill>
                <a:latin typeface="Trebuchet MS"/>
              </a:rPr>
              <a:t>Финальные шаги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D25342-AE2C-95CA-5BF0-BB6B83FE8632}"/>
              </a:ext>
            </a:extLst>
          </p:cNvPr>
          <p:cNvSpPr txBox="1"/>
          <p:nvPr/>
        </p:nvSpPr>
        <p:spPr>
          <a:xfrm>
            <a:off x="973666" y="4134880"/>
            <a:ext cx="4487333" cy="1622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1.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Подготовьте итоговый файл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2.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Нажмите кнопку </a:t>
            </a:r>
            <a:r>
              <a:rPr lang="ru-RU" sz="1600" b="1" dirty="0">
                <a:solidFill>
                  <a:srgbClr val="0F172A"/>
                </a:solidFill>
                <a:latin typeface="Segoe UI"/>
              </a:rPr>
              <a:t>«Завершить»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 в тренажере.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3.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Загрузите материал и отправьте инспектору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2563EB"/>
                </a:solidFill>
                <a:latin typeface="Segoe UI"/>
              </a:rPr>
              <a:t>4.  </a:t>
            </a:r>
            <a:r>
              <a:rPr lang="ru-RU" sz="1600" b="0" dirty="0">
                <a:solidFill>
                  <a:srgbClr val="475569"/>
                </a:solidFill>
                <a:latin typeface="Segoe UI"/>
              </a:rPr>
              <a:t>Дождитесь проверки от инспектора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64332C5E-72CE-D674-991B-FAE8483C64B8}"/>
              </a:ext>
            </a:extLst>
          </p:cNvPr>
          <p:cNvSpPr/>
          <p:nvPr/>
        </p:nvSpPr>
        <p:spPr>
          <a:xfrm>
            <a:off x="6080760" y="570653"/>
            <a:ext cx="5897880" cy="28109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59F30947-A1BB-E547-DAE9-285D8208110C}"/>
              </a:ext>
            </a:extLst>
          </p:cNvPr>
          <p:cNvSpPr/>
          <p:nvPr/>
        </p:nvSpPr>
        <p:spPr>
          <a:xfrm>
            <a:off x="6080760" y="3660986"/>
            <a:ext cx="5897880" cy="28583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F207DCFF-2250-384B-5594-094EC931D875}"/>
              </a:ext>
            </a:extLst>
          </p:cNvPr>
          <p:cNvSpPr/>
          <p:nvPr/>
        </p:nvSpPr>
        <p:spPr>
          <a:xfrm>
            <a:off x="677333" y="25400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lang="ru-RU" sz="900" b="1">
                <a:solidFill>
                  <a:srgbClr val="64748B"/>
                </a:solidFill>
                <a:latin typeface="Segoe UI"/>
              </a:defRPr>
            </a:pPr>
            <a:r>
              <a:t>ШАГ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AD0AE1-6DDD-B5DF-BB1D-E02EB9AD746C}"/>
              </a:ext>
            </a:extLst>
          </p:cNvPr>
          <p:cNvSpPr txBox="1"/>
          <p:nvPr/>
        </p:nvSpPr>
        <p:spPr>
          <a:xfrm>
            <a:off x="677333" y="1304012"/>
            <a:ext cx="5080000" cy="677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lang="ru-RU" sz="2800" b="1">
                <a:solidFill>
                  <a:srgbClr val="0F172A"/>
                </a:solidFill>
                <a:latin typeface="Trebuchet MS"/>
              </a:defRPr>
            </a:pPr>
            <a:r>
              <a:rPr dirty="0"/>
              <a:t>Сдача готовой работы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DA5EC2F-2DFE-AA79-A80B-AD5D169A9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557" y="3736570"/>
            <a:ext cx="5234286" cy="270717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49E9943-6D01-9BAA-CC31-DB4D59283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557" y="613044"/>
            <a:ext cx="5221718" cy="2726149"/>
          </a:xfrm>
          <a:prstGeom prst="rect">
            <a:avLst/>
          </a:prstGeom>
        </p:spPr>
      </p:pic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95F9FB0-6FE6-4EF1-4D46-81040335CF4E}"/>
              </a:ext>
            </a:extLst>
          </p:cNvPr>
          <p:cNvCxnSpPr>
            <a:cxnSpLocks/>
          </p:cNvCxnSpPr>
          <p:nvPr/>
        </p:nvCxnSpPr>
        <p:spPr>
          <a:xfrm flipV="1">
            <a:off x="8774762" y="1476981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23333C24-896E-22CB-FEE4-AF18FB02EC01}"/>
              </a:ext>
            </a:extLst>
          </p:cNvPr>
          <p:cNvCxnSpPr>
            <a:cxnSpLocks/>
          </p:cNvCxnSpPr>
          <p:nvPr/>
        </p:nvCxnSpPr>
        <p:spPr>
          <a:xfrm flipV="1">
            <a:off x="7705917" y="5299255"/>
            <a:ext cx="405037" cy="33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588237F-3C9B-5179-0CC8-3EB5E68BE88D}"/>
              </a:ext>
            </a:extLst>
          </p:cNvPr>
          <p:cNvCxnSpPr>
            <a:cxnSpLocks/>
          </p:cNvCxnSpPr>
          <p:nvPr/>
        </p:nvCxnSpPr>
        <p:spPr>
          <a:xfrm>
            <a:off x="7492149" y="6129814"/>
            <a:ext cx="592212" cy="157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257</Words>
  <Application>Microsoft Office PowerPoint</Application>
  <PresentationFormat>Широкоэкранный</PresentationFormat>
  <Paragraphs>47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Segoe UI</vt:lpstr>
      <vt:lpstr>Segoe UI Emoji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Andrey</cp:lastModifiedBy>
  <cp:revision>3</cp:revision>
  <dcterms:created xsi:type="dcterms:W3CDTF">2013-01-27T09:14:16Z</dcterms:created>
  <dcterms:modified xsi:type="dcterms:W3CDTF">2026-06-22T08:29:25Z</dcterms:modified>
  <cp:category/>
</cp:coreProperties>
</file>
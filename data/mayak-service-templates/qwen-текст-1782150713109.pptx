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C21B8C0D-30BE-6E76-C0BA-34C2723A6A36}"/>
              </a:ext>
            </a:extLst>
          </p:cNvPr>
          <p:cNvSpPr/>
          <p:nvPr/>
        </p:nvSpPr>
        <p:spPr>
          <a:xfrm>
            <a:off x="615964" y="2065866"/>
            <a:ext cx="5418666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E7184C51-A6D0-B265-8085-B3ADDACF3F70}"/>
              </a:ext>
            </a:extLst>
          </p:cNvPr>
          <p:cNvSpPr/>
          <p:nvPr/>
        </p:nvSpPr>
        <p:spPr>
          <a:xfrm>
            <a:off x="869964" y="231986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6D41B-1BFF-09C8-B295-8590C2722D62}"/>
              </a:ext>
            </a:extLst>
          </p:cNvPr>
          <p:cNvSpPr txBox="1"/>
          <p:nvPr/>
        </p:nvSpPr>
        <p:spPr>
          <a:xfrm>
            <a:off x="869964" y="231986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90656E-3FBF-5D7D-ED48-FBBFCCC5F127}"/>
              </a:ext>
            </a:extLst>
          </p:cNvPr>
          <p:cNvSpPr txBox="1"/>
          <p:nvPr/>
        </p:nvSpPr>
        <p:spPr>
          <a:xfrm>
            <a:off x="1631964" y="2353732"/>
            <a:ext cx="4064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 dirty="0">
                <a:solidFill>
                  <a:srgbClr val="0F172A"/>
                </a:solidFill>
                <a:latin typeface="Trebuchet MS"/>
              </a:rPr>
              <a:t>Анализ требований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B9D274-D6C5-0916-EC09-C575C28531C2}"/>
              </a:ext>
            </a:extLst>
          </p:cNvPr>
          <p:cNvSpPr txBox="1"/>
          <p:nvPr/>
        </p:nvSpPr>
        <p:spPr>
          <a:xfrm>
            <a:off x="1631964" y="2878666"/>
            <a:ext cx="4064000" cy="592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b="0">
                <a:solidFill>
                  <a:srgbClr val="475569"/>
                </a:solidFill>
                <a:latin typeface="Segoe UI"/>
              </a:rPr>
              <a:t>Перед тем как приступать к выполнению, остановитесь и детально ознакомьтесь с условиями задачи.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F6B59B25-E611-A8FE-20A8-60BC8C863908}"/>
              </a:ext>
            </a:extLst>
          </p:cNvPr>
          <p:cNvSpPr/>
          <p:nvPr/>
        </p:nvSpPr>
        <p:spPr>
          <a:xfrm>
            <a:off x="869964" y="3589866"/>
            <a:ext cx="4910666" cy="1320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62876365-10C8-FE5D-E0BC-1C6877F781AC}"/>
              </a:ext>
            </a:extLst>
          </p:cNvPr>
          <p:cNvSpPr/>
          <p:nvPr/>
        </p:nvSpPr>
        <p:spPr>
          <a:xfrm>
            <a:off x="1073164" y="3759199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DB1C0-BC15-EDB0-D85A-3B0E29B0D4FE}"/>
              </a:ext>
            </a:extLst>
          </p:cNvPr>
          <p:cNvSpPr txBox="1"/>
          <p:nvPr/>
        </p:nvSpPr>
        <p:spPr>
          <a:xfrm>
            <a:off x="1073164" y="3759199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🛡️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76450-0A6B-6896-614A-1AA3146FBE1B}"/>
              </a:ext>
            </a:extLst>
          </p:cNvPr>
          <p:cNvSpPr txBox="1"/>
          <p:nvPr/>
        </p:nvSpPr>
        <p:spPr>
          <a:xfrm>
            <a:off x="1750497" y="3793066"/>
            <a:ext cx="3810000" cy="338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900" b="1">
                <a:solidFill>
                  <a:srgbClr val="2563EB"/>
                </a:solidFill>
                <a:latin typeface="Segoe UI"/>
              </a:rPr>
              <a:t>ВАЖНАЯ РЕКОМЕНДАЦИЯ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2CDDB-9086-B9A9-2366-F2837859EC2F}"/>
              </a:ext>
            </a:extLst>
          </p:cNvPr>
          <p:cNvSpPr txBox="1"/>
          <p:nvPr/>
        </p:nvSpPr>
        <p:spPr>
          <a:xfrm>
            <a:off x="1750497" y="4131732"/>
            <a:ext cx="3810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b="0">
                <a:solidFill>
                  <a:srgbClr val="0F172A"/>
                </a:solidFill>
                <a:latin typeface="Segoe UI"/>
              </a:rPr>
              <a:t>Не переходите к следующему шагу, пока у вас не возникнет </a:t>
            </a:r>
            <a:r>
              <a:rPr lang="ru-RU" sz="1100" b="1">
                <a:solidFill>
                  <a:srgbClr val="0F172A"/>
                </a:solidFill>
                <a:latin typeface="Segoe UI"/>
              </a:rPr>
              <a:t>кристально ясного понимания</a:t>
            </a:r>
            <a:r>
              <a:rPr lang="ru-RU" sz="1100" b="0">
                <a:solidFill>
                  <a:srgbClr val="0F172A"/>
                </a:solidFill>
                <a:latin typeface="Segoe UI"/>
              </a:rPr>
              <a:t>, что от вас требуется.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6E5E7164-4231-F0ED-33BE-A53D742ED848}"/>
              </a:ext>
            </a:extLst>
          </p:cNvPr>
          <p:cNvSpPr/>
          <p:nvPr/>
        </p:nvSpPr>
        <p:spPr>
          <a:xfrm>
            <a:off x="6553200" y="330200"/>
            <a:ext cx="4253653" cy="5862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12" descr="page_1_card.png">
            <a:extLst>
              <a:ext uri="{FF2B5EF4-FFF2-40B4-BE49-F238E27FC236}">
                <a16:creationId xmlns:a16="http://schemas.microsoft.com/office/drawing/2014/main" id="{74FF0AF2-D679-8258-5655-40745746A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381000"/>
            <a:ext cx="4152053" cy="5760720"/>
          </a:xfrm>
          <a:prstGeom prst="rect">
            <a:avLst/>
          </a:prstGeom>
        </p:spPr>
      </p:pic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F37C1D16-D7B2-0EDE-50E5-44FC710CAFBD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DF888F-AA8C-E5E3-5534-0F763ADF2D04}"/>
              </a:ext>
            </a:extLst>
          </p:cNvPr>
          <p:cNvSpPr txBox="1"/>
          <p:nvPr/>
        </p:nvSpPr>
        <p:spPr>
          <a:xfrm>
            <a:off x="677333" y="941846"/>
            <a:ext cx="5588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rPr dirty="0"/>
              <a:t>Изучение задания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4A5531B8-FA74-5FA6-EDD9-0FC7077087B9}"/>
              </a:ext>
            </a:extLst>
          </p:cNvPr>
          <p:cNvSpPr/>
          <p:nvPr/>
        </p:nvSpPr>
        <p:spPr>
          <a:xfrm>
            <a:off x="677333" y="1578186"/>
            <a:ext cx="4336525" cy="36559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A7529636-839B-EB89-B8A3-99B62031E50A}"/>
              </a:ext>
            </a:extLst>
          </p:cNvPr>
          <p:cNvSpPr/>
          <p:nvPr/>
        </p:nvSpPr>
        <p:spPr>
          <a:xfrm>
            <a:off x="931333" y="188298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06D60-DFE9-38D5-3281-22AB10D61A9C}"/>
              </a:ext>
            </a:extLst>
          </p:cNvPr>
          <p:cNvSpPr txBox="1"/>
          <p:nvPr/>
        </p:nvSpPr>
        <p:spPr>
          <a:xfrm>
            <a:off x="931333" y="188298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9A1D2-20EA-2AA9-1159-B91D57F7DB5A}"/>
              </a:ext>
            </a:extLst>
          </p:cNvPr>
          <p:cNvSpPr txBox="1"/>
          <p:nvPr/>
        </p:nvSpPr>
        <p:spPr>
          <a:xfrm>
            <a:off x="1862666" y="1916853"/>
            <a:ext cx="2794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>
                <a:solidFill>
                  <a:srgbClr val="0F172A"/>
                </a:solidFill>
                <a:latin typeface="Trebuchet MS"/>
              </a:rPr>
              <a:t>Промт-инжиниринг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F6A43F-7824-C09B-356E-871EC31DD20C}"/>
              </a:ext>
            </a:extLst>
          </p:cNvPr>
          <p:cNvSpPr txBox="1"/>
          <p:nvPr/>
        </p:nvSpPr>
        <p:spPr>
          <a:xfrm>
            <a:off x="931333" y="2624666"/>
            <a:ext cx="3725333" cy="2123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1.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1200" b="1" dirty="0">
                <a:solidFill>
                  <a:srgbClr val="0F172A"/>
                </a:solidFill>
                <a:latin typeface="Segoe UI"/>
              </a:rPr>
              <a:t>«Начать задание»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 на тренажере.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2.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При необходимости </a:t>
            </a:r>
            <a:r>
              <a:rPr lang="ru-RU" sz="1200" b="1" dirty="0">
                <a:solidFill>
                  <a:srgbClr val="0F172A"/>
                </a:solidFill>
                <a:latin typeface="Segoe UI"/>
              </a:rPr>
              <a:t>(есть знак «?»)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скачайте и изучите доп. материалы.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3.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Заполните ТЗ по методологии </a:t>
            </a:r>
            <a:r>
              <a:rPr lang="ru-RU" sz="1200" b="1" dirty="0">
                <a:solidFill>
                  <a:srgbClr val="2563EB"/>
                </a:solidFill>
                <a:latin typeface="Segoe UI"/>
              </a:rPr>
              <a:t>МАЯК ОКО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 (Миссия, Аудитория, Я-роль, Критерии, Ограничения, Контекст, Оформление).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4.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1200" b="1" dirty="0">
                <a:solidFill>
                  <a:srgbClr val="0F172A"/>
                </a:solidFill>
                <a:latin typeface="Segoe UI"/>
              </a:rPr>
              <a:t>«Создать запрос»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 для генерации </a:t>
            </a:r>
            <a:r>
              <a:rPr lang="ru-RU" sz="1200" b="0" dirty="0" err="1">
                <a:solidFill>
                  <a:srgbClr val="475569"/>
                </a:solidFill>
                <a:latin typeface="Segoe UI"/>
              </a:rPr>
              <a:t>промта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E5493A07-DFCE-FA1C-4A33-DA7129DEE471}"/>
              </a:ext>
            </a:extLst>
          </p:cNvPr>
          <p:cNvSpPr/>
          <p:nvPr/>
        </p:nvSpPr>
        <p:spPr>
          <a:xfrm>
            <a:off x="5232400" y="1578186"/>
            <a:ext cx="6397413" cy="365590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44437002-E506-A969-AA7A-0FA2599A2EB0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4944E7-A9CC-7D40-385A-0F68A8878656}"/>
              </a:ext>
            </a:extLst>
          </p:cNvPr>
          <p:cNvSpPr txBox="1"/>
          <p:nvPr/>
        </p:nvSpPr>
        <p:spPr>
          <a:xfrm>
            <a:off x="677333" y="643466"/>
            <a:ext cx="10837333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Проектирование промта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5EFD884-380B-59E9-1C6C-954131F1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04" y="1783987"/>
            <a:ext cx="6216424" cy="3244303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477AD815-B81D-219D-9C63-0B4688EEAC5C}"/>
              </a:ext>
            </a:extLst>
          </p:cNvPr>
          <p:cNvCxnSpPr>
            <a:cxnSpLocks/>
          </p:cNvCxnSpPr>
          <p:nvPr/>
        </p:nvCxnSpPr>
        <p:spPr>
          <a:xfrm flipV="1">
            <a:off x="8278695" y="2829117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A3457AE-D88C-0E4B-8930-91B67575E22D}"/>
              </a:ext>
            </a:extLst>
          </p:cNvPr>
          <p:cNvCxnSpPr>
            <a:cxnSpLocks/>
          </p:cNvCxnSpPr>
          <p:nvPr/>
        </p:nvCxnSpPr>
        <p:spPr>
          <a:xfrm flipV="1">
            <a:off x="5436282" y="4839904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F04A4319-9F1A-2131-A47F-859063A5F97F}"/>
              </a:ext>
            </a:extLst>
          </p:cNvPr>
          <p:cNvSpPr/>
          <p:nvPr/>
        </p:nvSpPr>
        <p:spPr>
          <a:xfrm>
            <a:off x="311573" y="1631526"/>
            <a:ext cx="7057813" cy="401827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6BABBFE0-C3BE-1BB0-3EDC-9ACD69D9E6FA}"/>
              </a:ext>
            </a:extLst>
          </p:cNvPr>
          <p:cNvSpPr/>
          <p:nvPr/>
        </p:nvSpPr>
        <p:spPr>
          <a:xfrm>
            <a:off x="7462849" y="1631526"/>
            <a:ext cx="4390485" cy="4018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4">
            <a:extLst>
              <a:ext uri="{FF2B5EF4-FFF2-40B4-BE49-F238E27FC236}">
                <a16:creationId xmlns:a16="http://schemas.microsoft.com/office/drawing/2014/main" id="{34C793FC-CDB2-ADC3-B6FF-2E09E6D1F6C7}"/>
              </a:ext>
            </a:extLst>
          </p:cNvPr>
          <p:cNvSpPr/>
          <p:nvPr/>
        </p:nvSpPr>
        <p:spPr>
          <a:xfrm>
            <a:off x="7958666" y="193632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68B0B9-6910-D344-0DA1-649307266EB4}"/>
              </a:ext>
            </a:extLst>
          </p:cNvPr>
          <p:cNvSpPr txBox="1"/>
          <p:nvPr/>
        </p:nvSpPr>
        <p:spPr>
          <a:xfrm>
            <a:off x="7958666" y="193632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 dirty="0">
                <a:latin typeface="Segoe UI Emoji"/>
              </a:rPr>
              <a:t>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64D399-64A6-2D59-1A84-C91989304D1D}"/>
              </a:ext>
            </a:extLst>
          </p:cNvPr>
          <p:cNvSpPr txBox="1"/>
          <p:nvPr/>
        </p:nvSpPr>
        <p:spPr>
          <a:xfrm>
            <a:off x="8890000" y="1970193"/>
            <a:ext cx="2709333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>
                <a:solidFill>
                  <a:srgbClr val="0F172A"/>
                </a:solidFill>
                <a:latin typeface="Trebuchet MS"/>
              </a:rPr>
              <a:t>Выбор сервиса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D7C2DF-AA32-8C7C-9D4A-54565C7A1D43}"/>
              </a:ext>
            </a:extLst>
          </p:cNvPr>
          <p:cNvSpPr txBox="1"/>
          <p:nvPr/>
        </p:nvSpPr>
        <p:spPr>
          <a:xfrm>
            <a:off x="8890000" y="2513753"/>
            <a:ext cx="2709333" cy="931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b="0">
                <a:solidFill>
                  <a:srgbClr val="475569"/>
                </a:solidFill>
                <a:latin typeface="Segoe UI"/>
              </a:rPr>
              <a:t>Перейдите во внешний ИИ-сервис, рекомендованный для выполнения задания.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B77E0F85-210D-6AC8-C0C7-B12153022381}"/>
              </a:ext>
            </a:extLst>
          </p:cNvPr>
          <p:cNvSpPr/>
          <p:nvPr/>
        </p:nvSpPr>
        <p:spPr>
          <a:xfrm>
            <a:off x="7958666" y="3529753"/>
            <a:ext cx="3556000" cy="1862666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9">
            <a:extLst>
              <a:ext uri="{FF2B5EF4-FFF2-40B4-BE49-F238E27FC236}">
                <a16:creationId xmlns:a16="http://schemas.microsoft.com/office/drawing/2014/main" id="{E63220C2-1D2A-1746-C93E-74BCC99CE44D}"/>
              </a:ext>
            </a:extLst>
          </p:cNvPr>
          <p:cNvSpPr/>
          <p:nvPr/>
        </p:nvSpPr>
        <p:spPr>
          <a:xfrm>
            <a:off x="8128000" y="369908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C21868-D37F-0F74-E878-220074ABFD1C}"/>
              </a:ext>
            </a:extLst>
          </p:cNvPr>
          <p:cNvSpPr txBox="1"/>
          <p:nvPr/>
        </p:nvSpPr>
        <p:spPr>
          <a:xfrm>
            <a:off x="8128000" y="369908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💡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EEADE7-ADB9-BD0D-5778-6946B6B3DCC1}"/>
              </a:ext>
            </a:extLst>
          </p:cNvPr>
          <p:cNvSpPr txBox="1"/>
          <p:nvPr/>
        </p:nvSpPr>
        <p:spPr>
          <a:xfrm>
            <a:off x="8890000" y="3849178"/>
            <a:ext cx="2455333" cy="338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900" b="1" dirty="0">
                <a:solidFill>
                  <a:srgbClr val="2563EB"/>
                </a:solidFill>
                <a:latin typeface="Segoe UI"/>
              </a:rPr>
              <a:t>РЕКОМЕНДОВАННЫЙ СЕРВИС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F3D44C-5258-DDA6-9F73-51C35E4A99B6}"/>
              </a:ext>
            </a:extLst>
          </p:cNvPr>
          <p:cNvSpPr txBox="1"/>
          <p:nvPr/>
        </p:nvSpPr>
        <p:spPr>
          <a:xfrm>
            <a:off x="8889999" y="4506805"/>
            <a:ext cx="2455333" cy="3726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100" b="0" dirty="0">
                <a:solidFill>
                  <a:srgbClr val="0F172A"/>
                </a:solidFill>
                <a:latin typeface="Segoe UI"/>
              </a:rPr>
              <a:t>Используйте кнопку </a:t>
            </a:r>
            <a:r>
              <a:rPr lang="en-US" sz="1100" b="1" dirty="0" err="1">
                <a:solidFill>
                  <a:srgbClr val="2563EB"/>
                </a:solidFill>
                <a:latin typeface="Segoe UI"/>
              </a:rPr>
              <a:t>Qwen</a:t>
            </a:r>
            <a:endParaRPr lang="en-US" sz="1100" b="1" dirty="0">
              <a:solidFill>
                <a:srgbClr val="2563EB"/>
              </a:solidFill>
              <a:latin typeface="Segoe UI"/>
            </a:endParaRPr>
          </a:p>
          <a:p>
            <a:pPr>
              <a:lnSpc>
                <a:spcPct val="115000"/>
              </a:lnSpc>
            </a:pPr>
            <a:r>
              <a:rPr lang="ru-RU" sz="1100" b="0" dirty="0">
                <a:solidFill>
                  <a:srgbClr val="0F172A"/>
                </a:solidFill>
                <a:latin typeface="Segoe UI"/>
              </a:rPr>
              <a:t> на панели выбора ИИ-сервисов.</a:t>
            </a:r>
          </a:p>
        </p:txBody>
      </p:sp>
      <p:sp>
        <p:nvSpPr>
          <p:cNvPr id="42" name="Rounded Rectangle 13">
            <a:extLst>
              <a:ext uri="{FF2B5EF4-FFF2-40B4-BE49-F238E27FC236}">
                <a16:creationId xmlns:a16="http://schemas.microsoft.com/office/drawing/2014/main" id="{5737944D-F4F1-75A6-77F1-6E148ABE2F48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DA5402-D8A3-E69F-9041-5C1B0F53C215}"/>
              </a:ext>
            </a:extLst>
          </p:cNvPr>
          <p:cNvSpPr txBox="1"/>
          <p:nvPr/>
        </p:nvSpPr>
        <p:spPr>
          <a:xfrm>
            <a:off x="677333" y="670559"/>
            <a:ext cx="10837333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Переход в рекомендованный сервис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2DA034A-5E1C-1F9E-3495-B37FCAE4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36" y="1802551"/>
            <a:ext cx="6852898" cy="3589867"/>
          </a:xfrm>
          <a:prstGeom prst="rect">
            <a:avLst/>
          </a:prstGeom>
        </p:spPr>
      </p:pic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BAF8361B-F751-93C5-BB13-F84D6A5A7D03}"/>
              </a:ext>
            </a:extLst>
          </p:cNvPr>
          <p:cNvCxnSpPr>
            <a:cxnSpLocks/>
          </p:cNvCxnSpPr>
          <p:nvPr/>
        </p:nvCxnSpPr>
        <p:spPr>
          <a:xfrm flipV="1">
            <a:off x="6258628" y="2979419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4239A3D3-B208-D2DA-1D74-1F688C85E2ED}"/>
              </a:ext>
            </a:extLst>
          </p:cNvPr>
          <p:cNvSpPr/>
          <p:nvPr/>
        </p:nvSpPr>
        <p:spPr>
          <a:xfrm>
            <a:off x="440427" y="2235199"/>
            <a:ext cx="5426462" cy="275674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87D974B7-1649-E520-68DC-D08A94A29B6C}"/>
              </a:ext>
            </a:extLst>
          </p:cNvPr>
          <p:cNvSpPr/>
          <p:nvPr/>
        </p:nvSpPr>
        <p:spPr>
          <a:xfrm>
            <a:off x="694427" y="28448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C1C43E-515E-E918-38E0-0A60C3BE9978}"/>
              </a:ext>
            </a:extLst>
          </p:cNvPr>
          <p:cNvSpPr txBox="1"/>
          <p:nvPr/>
        </p:nvSpPr>
        <p:spPr>
          <a:xfrm>
            <a:off x="694427" y="28448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4D0CBF-2588-8121-E1DA-47CF784FB3D9}"/>
              </a:ext>
            </a:extLst>
          </p:cNvPr>
          <p:cNvSpPr txBox="1"/>
          <p:nvPr/>
        </p:nvSpPr>
        <p:spPr>
          <a:xfrm>
            <a:off x="1625760" y="2878666"/>
            <a:ext cx="3810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 dirty="0">
                <a:solidFill>
                  <a:srgbClr val="0F172A"/>
                </a:solidFill>
                <a:latin typeface="Trebuchet MS"/>
              </a:rPr>
              <a:t>Вход в систему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E40C3-EA74-9240-27F9-DAB4569423AD}"/>
              </a:ext>
            </a:extLst>
          </p:cNvPr>
          <p:cNvSpPr txBox="1"/>
          <p:nvPr/>
        </p:nvSpPr>
        <p:spPr>
          <a:xfrm>
            <a:off x="1625760" y="3437466"/>
            <a:ext cx="3810000" cy="931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100" b="0" dirty="0">
                <a:solidFill>
                  <a:srgbClr val="475569"/>
                </a:solidFill>
                <a:latin typeface="Segoe UI"/>
              </a:rPr>
              <a:t>Для начала работы пройдите быструю авторизацию.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100" b="0" dirty="0">
                <a:solidFill>
                  <a:srgbClr val="0F172A"/>
                </a:solidFill>
                <a:latin typeface="Segoe UI"/>
              </a:rPr>
              <a:t>💡 Используйте </a:t>
            </a:r>
            <a:r>
              <a:rPr lang="ru-RU" sz="1100" b="1" dirty="0">
                <a:solidFill>
                  <a:srgbClr val="2563EB"/>
                </a:solidFill>
                <a:latin typeface="Segoe UI"/>
              </a:rPr>
              <a:t>Google-аккаунт</a:t>
            </a:r>
            <a:r>
              <a:rPr lang="ru-RU" sz="1100" b="0" dirty="0">
                <a:solidFill>
                  <a:srgbClr val="0F172A"/>
                </a:solidFill>
                <a:latin typeface="Segoe UI"/>
              </a:rPr>
              <a:t> — это сэкономит время.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663C7DAA-49ED-4A4F-7319-DB363F2CBCB0}"/>
              </a:ext>
            </a:extLst>
          </p:cNvPr>
          <p:cNvSpPr/>
          <p:nvPr/>
        </p:nvSpPr>
        <p:spPr>
          <a:xfrm>
            <a:off x="6210556" y="2235199"/>
            <a:ext cx="4916054" cy="27567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12EAFF1E-3E19-07DD-DAB7-7EC85DD9FD13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3E142E-06E1-2487-7FE5-A9E7A84EA5F7}"/>
              </a:ext>
            </a:extLst>
          </p:cNvPr>
          <p:cNvSpPr txBox="1"/>
          <p:nvPr/>
        </p:nvSpPr>
        <p:spPr>
          <a:xfrm>
            <a:off x="677333" y="643466"/>
            <a:ext cx="5080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Пройдите регистрацию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4A614F3-FC1F-7E39-2FC1-576D6FF8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22" y="2306669"/>
            <a:ext cx="4836388" cy="2613805"/>
          </a:xfrm>
          <a:prstGeom prst="rect">
            <a:avLst/>
          </a:prstGeom>
        </p:spPr>
      </p:pic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9EBFD320-EB6F-987D-9EB9-DADDDCB26452}"/>
              </a:ext>
            </a:extLst>
          </p:cNvPr>
          <p:cNvCxnSpPr>
            <a:cxnSpLocks/>
          </p:cNvCxnSpPr>
          <p:nvPr/>
        </p:nvCxnSpPr>
        <p:spPr>
          <a:xfrm flipV="1">
            <a:off x="10155568" y="2547273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8668" y="1651000"/>
            <a:ext cx="6896945" cy="365129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333" y="643466"/>
            <a:ext cx="10837333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Запуск и получение результата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7E75D3DB-01C6-46A0-3C9A-8483640D9FC8}"/>
              </a:ext>
            </a:extLst>
          </p:cNvPr>
          <p:cNvSpPr/>
          <p:nvPr/>
        </p:nvSpPr>
        <p:spPr>
          <a:xfrm>
            <a:off x="7523856" y="1651000"/>
            <a:ext cx="4329478" cy="36512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976B2EC8-95AA-25B4-7EC1-CC47DE020F23}"/>
              </a:ext>
            </a:extLst>
          </p:cNvPr>
          <p:cNvSpPr/>
          <p:nvPr/>
        </p:nvSpPr>
        <p:spPr>
          <a:xfrm>
            <a:off x="7958666" y="19558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46CDC5-F84C-EA81-E5E8-CBF04E8E7EF5}"/>
              </a:ext>
            </a:extLst>
          </p:cNvPr>
          <p:cNvSpPr txBox="1"/>
          <p:nvPr/>
        </p:nvSpPr>
        <p:spPr>
          <a:xfrm>
            <a:off x="7958666" y="19558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9E0B90-DB3D-6B44-C626-097A52947334}"/>
              </a:ext>
            </a:extLst>
          </p:cNvPr>
          <p:cNvSpPr txBox="1"/>
          <p:nvPr/>
        </p:nvSpPr>
        <p:spPr>
          <a:xfrm>
            <a:off x="8890000" y="1989666"/>
            <a:ext cx="2709333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>
                <a:solidFill>
                  <a:srgbClr val="0F172A"/>
                </a:solidFill>
                <a:latin typeface="Trebuchet MS"/>
              </a:rPr>
              <a:t>Генерация ответа ИИ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8408D6B-142A-E386-6C07-308C1DE8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85" y="1698431"/>
            <a:ext cx="6664138" cy="36038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4CB193-DD3F-C0C5-CC8E-CE4E10C5A07B}"/>
              </a:ext>
            </a:extLst>
          </p:cNvPr>
          <p:cNvSpPr txBox="1"/>
          <p:nvPr/>
        </p:nvSpPr>
        <p:spPr>
          <a:xfrm>
            <a:off x="7958666" y="2624666"/>
            <a:ext cx="3640666" cy="18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1.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Скопируйте </a:t>
            </a:r>
            <a:r>
              <a:rPr lang="ru-RU" sz="1600" b="0" dirty="0" err="1">
                <a:solidFill>
                  <a:srgbClr val="475569"/>
                </a:solidFill>
                <a:latin typeface="Segoe UI"/>
              </a:rPr>
              <a:t>промт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 из тренажера кнопкой </a:t>
            </a:r>
            <a:r>
              <a:rPr lang="ru-RU" sz="1600" b="1" dirty="0">
                <a:solidFill>
                  <a:srgbClr val="0F172A"/>
                </a:solidFill>
                <a:latin typeface="Segoe UI"/>
              </a:rPr>
              <a:t>«Скопировать»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2.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Вставьте скопированный </a:t>
            </a:r>
            <a:r>
              <a:rPr lang="ru-RU" sz="1600" b="0" dirty="0" err="1">
                <a:solidFill>
                  <a:srgbClr val="475569"/>
                </a:solidFill>
                <a:latin typeface="Segoe UI"/>
              </a:rPr>
              <a:t>промт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 в поле ввода </a:t>
            </a:r>
            <a:r>
              <a:rPr lang="en-US" sz="1600" b="0" dirty="0" err="1">
                <a:solidFill>
                  <a:srgbClr val="475569"/>
                </a:solidFill>
                <a:latin typeface="Segoe UI"/>
              </a:rPr>
              <a:t>Qwe</a:t>
            </a:r>
            <a:r>
              <a:rPr lang="en-US" sz="1600" dirty="0" err="1">
                <a:solidFill>
                  <a:srgbClr val="475569"/>
                </a:solidFill>
                <a:latin typeface="Segoe UI"/>
              </a:rPr>
              <a:t>n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3.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Нажмите кнопку отправки или клавишу </a:t>
            </a:r>
            <a:r>
              <a:rPr lang="ru-RU" sz="1600" b="1" dirty="0">
                <a:solidFill>
                  <a:srgbClr val="0F172A"/>
                </a:solidFill>
                <a:latin typeface="Segoe UI"/>
              </a:rPr>
              <a:t>Enter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 и дождитесь ответа.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68B634D1-6CDB-A15B-DEC4-CD9D18A47063}"/>
              </a:ext>
            </a:extLst>
          </p:cNvPr>
          <p:cNvCxnSpPr>
            <a:cxnSpLocks/>
          </p:cNvCxnSpPr>
          <p:nvPr/>
        </p:nvCxnSpPr>
        <p:spPr>
          <a:xfrm flipV="1">
            <a:off x="2097801" y="3500362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1A89731-4C03-10C7-8F68-A5FB0BC6A9A3}"/>
              </a:ext>
            </a:extLst>
          </p:cNvPr>
          <p:cNvCxnSpPr>
            <a:cxnSpLocks/>
          </p:cNvCxnSpPr>
          <p:nvPr/>
        </p:nvCxnSpPr>
        <p:spPr>
          <a:xfrm flipV="1">
            <a:off x="4925895" y="3487065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9D6A37D9-6664-334F-D346-2A23556AD6C1}"/>
              </a:ext>
            </a:extLst>
          </p:cNvPr>
          <p:cNvSpPr/>
          <p:nvPr/>
        </p:nvSpPr>
        <p:spPr>
          <a:xfrm>
            <a:off x="677333" y="2743200"/>
            <a:ext cx="5080000" cy="37761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F47C0444-7633-B41F-CE59-9CA34A44B0B5}"/>
              </a:ext>
            </a:extLst>
          </p:cNvPr>
          <p:cNvSpPr/>
          <p:nvPr/>
        </p:nvSpPr>
        <p:spPr>
          <a:xfrm>
            <a:off x="1016000" y="2952081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B4F96-47E2-AAA9-FCD8-57DF20462F1E}"/>
              </a:ext>
            </a:extLst>
          </p:cNvPr>
          <p:cNvSpPr txBox="1"/>
          <p:nvPr/>
        </p:nvSpPr>
        <p:spPr>
          <a:xfrm>
            <a:off x="1016000" y="29210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98766-FF83-2367-706D-41F19A779DF4}"/>
              </a:ext>
            </a:extLst>
          </p:cNvPr>
          <p:cNvSpPr txBox="1"/>
          <p:nvPr/>
        </p:nvSpPr>
        <p:spPr>
          <a:xfrm>
            <a:off x="1769363" y="3075018"/>
            <a:ext cx="3556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 dirty="0">
                <a:solidFill>
                  <a:srgbClr val="0F172A"/>
                </a:solidFill>
                <a:latin typeface="Trebuchet MS"/>
              </a:rPr>
              <a:t>Финальные шаги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B75DD-737E-15DA-7A5C-4F6CFB27705B}"/>
              </a:ext>
            </a:extLst>
          </p:cNvPr>
          <p:cNvSpPr txBox="1"/>
          <p:nvPr/>
        </p:nvSpPr>
        <p:spPr>
          <a:xfrm>
            <a:off x="973666" y="4134880"/>
            <a:ext cx="4487333" cy="1545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1.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Подготовьте итоговый файл</a:t>
            </a:r>
            <a:br>
              <a:rPr lang="ru-RU" sz="1600" b="0" dirty="0">
                <a:solidFill>
                  <a:srgbClr val="475569"/>
                </a:solidFill>
                <a:latin typeface="Segoe UI"/>
              </a:rPr>
            </a:br>
            <a:r>
              <a:rPr lang="ru-RU" sz="1600" b="1" dirty="0">
                <a:solidFill>
                  <a:srgbClr val="2563EB"/>
                </a:solidFill>
                <a:latin typeface="Segoe UI"/>
              </a:rPr>
              <a:t>2.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1600" b="1" dirty="0">
                <a:solidFill>
                  <a:srgbClr val="0F172A"/>
                </a:solidFill>
                <a:latin typeface="Segoe UI"/>
              </a:rPr>
              <a:t>«Завершить»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 в тренажере.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3.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Загрузите материал и отправьте инспектору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4.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Дождитесь проверки от инспектора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319DE255-D413-D3AC-9722-552FAAD67E63}"/>
              </a:ext>
            </a:extLst>
          </p:cNvPr>
          <p:cNvSpPr/>
          <p:nvPr/>
        </p:nvSpPr>
        <p:spPr>
          <a:xfrm>
            <a:off x="6080760" y="570653"/>
            <a:ext cx="5897880" cy="28109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CE7D048F-A03D-2B64-E753-14EFC5794DF1}"/>
              </a:ext>
            </a:extLst>
          </p:cNvPr>
          <p:cNvSpPr/>
          <p:nvPr/>
        </p:nvSpPr>
        <p:spPr>
          <a:xfrm>
            <a:off x="6080760" y="3660986"/>
            <a:ext cx="5897880" cy="28583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F4D4A4FD-FD6C-A9D7-6039-9B81DFD3A455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5A55F6-CAFA-7557-224A-208F296E0084}"/>
              </a:ext>
            </a:extLst>
          </p:cNvPr>
          <p:cNvSpPr txBox="1"/>
          <p:nvPr/>
        </p:nvSpPr>
        <p:spPr>
          <a:xfrm>
            <a:off x="677333" y="1304012"/>
            <a:ext cx="5080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rPr dirty="0"/>
              <a:t>Сдача готовой работы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DBFCE9E-7EFC-2F7E-D480-A15C4CF35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57" y="3736570"/>
            <a:ext cx="5234286" cy="270717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4B86C1C-91F8-C7E6-A112-31212C9EC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557" y="613044"/>
            <a:ext cx="5221718" cy="2726149"/>
          </a:xfrm>
          <a:prstGeom prst="rect">
            <a:avLst/>
          </a:prstGeom>
        </p:spPr>
      </p:pic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4DA3410B-C81F-3A2D-5737-06B3EE5761F5}"/>
              </a:ext>
            </a:extLst>
          </p:cNvPr>
          <p:cNvCxnSpPr>
            <a:cxnSpLocks/>
          </p:cNvCxnSpPr>
          <p:nvPr/>
        </p:nvCxnSpPr>
        <p:spPr>
          <a:xfrm flipV="1">
            <a:off x="8774762" y="1476981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AF65FF71-0646-13FF-0191-455CAD4698C4}"/>
              </a:ext>
            </a:extLst>
          </p:cNvPr>
          <p:cNvCxnSpPr>
            <a:cxnSpLocks/>
          </p:cNvCxnSpPr>
          <p:nvPr/>
        </p:nvCxnSpPr>
        <p:spPr>
          <a:xfrm flipV="1">
            <a:off x="7705917" y="5299255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3C54B41A-E23D-4EC7-4037-52514C4518CF}"/>
              </a:ext>
            </a:extLst>
          </p:cNvPr>
          <p:cNvCxnSpPr>
            <a:cxnSpLocks/>
          </p:cNvCxnSpPr>
          <p:nvPr/>
        </p:nvCxnSpPr>
        <p:spPr>
          <a:xfrm>
            <a:off x="7492149" y="6129814"/>
            <a:ext cx="592212" cy="157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245</Words>
  <Application>Microsoft Office PowerPoint</Application>
  <PresentationFormat>Широкоэкранный</PresentationFormat>
  <Paragraphs>45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Segoe UI</vt:lpstr>
      <vt:lpstr>Segoe UI Emoji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Andrey</cp:lastModifiedBy>
  <cp:revision>3</cp:revision>
  <dcterms:created xsi:type="dcterms:W3CDTF">2013-01-27T09:14:16Z</dcterms:created>
  <dcterms:modified xsi:type="dcterms:W3CDTF">2026-06-22T08:09:30Z</dcterms:modified>
  <cp:category/>
</cp:coreProperties>
</file>